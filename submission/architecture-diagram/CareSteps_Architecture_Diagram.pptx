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CareSteps architecture submission. Healthcare Challenge Statement 2: AI Healthier Every Day. The deck is a source-checked prototype overview using simulated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Solid arrows represent local flow. Dashed arrows cross the optional model or content boundary. The three chat safety gates run before the orchestrator; SQLite is local to the application host.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zones separate user device, trusted application, local storage and external inputs. The model has no database credential, arbitrary SQL tool or confirm_draft contract. The signed cookie provides integrity, not production authentication.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evaluates red flags, boundaries and clarification in order. emergency, urgent_advice, refuse and clarify all block model access. Detection uses authored patterns and context; it is not a clinical diagnostic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 example uses the real get_period_stats tool with days=7. user_id comes from ToolContext. Readings and medication reports stage a draft, then a user action confirms the write. record_barrier, add_question and set_reminder_preference are scoped direct-write exceptions.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configuration or forced degraded mode uses _degraded_turn. A provider failure before tools also degrades. If tools already ran, the fallback text can still return mode live and is checked. Completed writes are not rolled 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count is checked by executing SCHEMA in memory. This is a responsibility map, not a complete ER diagram. Corrections preserve history through superseded_by; missing reports remain unknown rather than compliant/non-compliant.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prompt is caresteps.system.v3. Context includes profile orientation and the latest 12 messages; tool results are appended. check_output uses heuristic numeric and phrase checks. /trace exposes contracts, rule metadata, provider status, source IDs and audit events.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validation recorded 170 passed tests on 16 October 2026. Tests do not establish clinical safety, accessibility conformance or live model performance. Known limits include no production login, no encryption at rest, no atomic whole-turn transaction and no health-system integration.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2_background.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658368" y="246888"/>
            <a:ext cx="256032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1">
                <a:solidFill>
                  <a:srgbClr val="6B6861"/>
                </a:solidFill>
                <a:latin typeface="Arimo"/>
              </a:rPr>
              <a:t>CARESteps  /  ARCHITECTURE</a:t>
            </a:r>
          </a:p>
        </p:txBody>
      </p:sp>
      <p:sp>
        <p:nvSpPr>
          <p:cNvPr id="4" name="Rectangle 3"/>
          <p:cNvSpPr/>
          <p:nvPr/>
        </p:nvSpPr>
        <p:spPr>
          <a:xfrm>
            <a:off x="2331720" y="347472"/>
            <a:ext cx="9464040" cy="10972"/>
          </a:xfrm>
          <a:prstGeom prst="rect">
            <a:avLst/>
          </a:prstGeom>
          <a:solidFill>
            <a:srgbClr val="CBD4D9"/>
          </a:solidFill>
          <a:ln>
            <a:noFill/>
          </a:ln>
        </p:spPr>
        <p:txBody>
          <a:bodyPr rtlCol="0" anchor="ctr"/>
          <a:lstStyle/>
          <a:p>
            <a:pPr algn="ctr"/>
          </a:p>
        </p:txBody>
      </p:sp>
      <p:sp>
        <p:nvSpPr>
          <p:cNvPr id="5" name="TextBox 4"/>
          <p:cNvSpPr txBox="1"/>
          <p:nvPr/>
        </p:nvSpPr>
        <p:spPr>
          <a:xfrm>
            <a:off x="12435840" y="246888"/>
            <a:ext cx="1508760" cy="201168"/>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900" b="0">
                <a:solidFill>
                  <a:srgbClr val="6B6861"/>
                </a:solidFill>
                <a:latin typeface="Arimo"/>
              </a:rPr>
              <a:t>16 OCT 2026</a:t>
            </a:r>
          </a:p>
        </p:txBody>
      </p:sp>
      <p:sp>
        <p:nvSpPr>
          <p:cNvPr id="6" name="TextBox 5"/>
          <p:cNvSpPr txBox="1"/>
          <p:nvPr/>
        </p:nvSpPr>
        <p:spPr>
          <a:xfrm>
            <a:off x="658368" y="612648"/>
            <a:ext cx="13121640" cy="50292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100" b="1">
                <a:solidFill>
                  <a:srgbClr val="2F2D29"/>
                </a:solidFill>
                <a:latin typeface="Arimo"/>
              </a:rPr>
              <a:t/>
            </a:r>
          </a:p>
        </p:txBody>
      </p:sp>
      <p:sp>
        <p:nvSpPr>
          <p:cNvPr id="7" name="TextBox 6"/>
          <p:cNvSpPr txBox="1"/>
          <p:nvPr/>
        </p:nvSpPr>
        <p:spPr>
          <a:xfrm>
            <a:off x="685800" y="1161288"/>
            <a:ext cx="1271016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50" b="0">
                <a:solidFill>
                  <a:srgbClr val="6B6861"/>
                </a:solidFill>
                <a:latin typeface="Arimo"/>
              </a:rPr>
              <a:t/>
            </a:r>
          </a:p>
        </p:txBody>
      </p:sp>
      <p:sp>
        <p:nvSpPr>
          <p:cNvPr id="8" name="Rectangle 7"/>
          <p:cNvSpPr/>
          <p:nvPr/>
        </p:nvSpPr>
        <p:spPr>
          <a:xfrm>
            <a:off x="685800" y="7626096"/>
            <a:ext cx="13258800" cy="10972"/>
          </a:xfrm>
          <a:prstGeom prst="rect">
            <a:avLst/>
          </a:prstGeom>
          <a:solidFill>
            <a:srgbClr val="CBD4D9"/>
          </a:solidFill>
          <a:ln>
            <a:noFill/>
          </a:ln>
        </p:spPr>
        <p:txBody>
          <a:bodyPr rtlCol="0" anchor="ctr"/>
          <a:lstStyle/>
          <a:p>
            <a:pPr algn="ctr"/>
          </a:p>
        </p:txBody>
      </p:sp>
      <p:sp>
        <p:nvSpPr>
          <p:cNvPr id="9" name="TextBox 8"/>
          <p:cNvSpPr txBox="1"/>
          <p:nvPr/>
        </p:nvSpPr>
        <p:spPr>
          <a:xfrm>
            <a:off x="685800" y="7754112"/>
            <a:ext cx="24688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CareSteps  |  Healthcare Challenge 2</a:t>
            </a:r>
          </a:p>
        </p:txBody>
      </p:sp>
      <p:sp>
        <p:nvSpPr>
          <p:cNvPr id="10" name="TextBox 9"/>
          <p:cNvSpPr txBox="1"/>
          <p:nvPr/>
        </p:nvSpPr>
        <p:spPr>
          <a:xfrm>
            <a:off x="3291840" y="7754112"/>
            <a:ext cx="88696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Handbook pp. 35, 37 | Source review: 16 October 2026</a:t>
            </a:r>
          </a:p>
        </p:txBody>
      </p:sp>
      <p:sp>
        <p:nvSpPr>
          <p:cNvPr id="11" name="TextBox 10"/>
          <p:cNvSpPr txBox="1"/>
          <p:nvPr/>
        </p:nvSpPr>
        <p:spPr>
          <a:xfrm>
            <a:off x="12966192" y="7726679"/>
            <a:ext cx="960120" cy="228600"/>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1000" b="0">
                <a:solidFill>
                  <a:srgbClr val="6B6861"/>
                </a:solidFill>
                <a:latin typeface="Arimo"/>
              </a:rPr>
              <a:t>01 / 09</a:t>
            </a:r>
          </a:p>
        </p:txBody>
      </p:sp>
      <p:sp>
        <p:nvSpPr>
          <p:cNvPr id="12" name="TextBox 11"/>
          <p:cNvSpPr txBox="1"/>
          <p:nvPr/>
        </p:nvSpPr>
        <p:spPr>
          <a:xfrm>
            <a:off x="676656" y="713232"/>
            <a:ext cx="6766560" cy="27432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200" b="1">
                <a:solidFill>
                  <a:srgbClr val="0B61C9"/>
                </a:solidFill>
                <a:latin typeface="Arimo"/>
              </a:rPr>
              <a:t>TENCENT CLOUD AI SINGAPORE HACKATHON 2026</a:t>
            </a:r>
          </a:p>
        </p:txBody>
      </p:sp>
      <p:sp>
        <p:nvSpPr>
          <p:cNvPr id="13" name="TextBox 12"/>
          <p:cNvSpPr txBox="1"/>
          <p:nvPr/>
        </p:nvSpPr>
        <p:spPr>
          <a:xfrm>
            <a:off x="658368" y="1225296"/>
            <a:ext cx="6858000" cy="7680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4800" b="1">
                <a:solidFill>
                  <a:srgbClr val="2F2D29"/>
                </a:solidFill>
                <a:latin typeface="Arimo"/>
              </a:rPr>
              <a:t>CareSteps</a:t>
            </a:r>
          </a:p>
        </p:txBody>
      </p:sp>
      <p:sp>
        <p:nvSpPr>
          <p:cNvPr id="14" name="TextBox 13"/>
          <p:cNvSpPr txBox="1"/>
          <p:nvPr/>
        </p:nvSpPr>
        <p:spPr>
          <a:xfrm>
            <a:off x="685800" y="2121408"/>
            <a:ext cx="6675120" cy="102412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100" b="1">
                <a:solidFill>
                  <a:srgbClr val="3B2561"/>
                </a:solidFill>
                <a:latin typeface="Arimo"/>
              </a:rPr>
              <a:t>Architecture &amp;</a:t>
            </a:r>
          </a:p>
          <a:p>
            <a:pPr algn="l">
              <a:lnSpc>
                <a:spcPct val="108000"/>
              </a:lnSpc>
              <a:spcBef>
                <a:spcPts val="0"/>
              </a:spcBef>
              <a:spcAft>
                <a:spcPts val="200"/>
              </a:spcAft>
            </a:pPr>
            <a:r>
              <a:rPr sz="3100" b="1">
                <a:solidFill>
                  <a:srgbClr val="3B2561"/>
                </a:solidFill>
                <a:latin typeface="Arimo"/>
              </a:rPr>
              <a:t>Trust Boundaries</a:t>
            </a:r>
          </a:p>
        </p:txBody>
      </p:sp>
      <p:sp>
        <p:nvSpPr>
          <p:cNvPr id="15" name="TextBox 14"/>
          <p:cNvSpPr txBox="1"/>
          <p:nvPr/>
        </p:nvSpPr>
        <p:spPr>
          <a:xfrm>
            <a:off x="694944" y="3364992"/>
            <a:ext cx="6080760" cy="6400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0">
                <a:solidFill>
                  <a:srgbClr val="6B6861"/>
                </a:solidFill>
                <a:latin typeface="Arimo"/>
              </a:rPr>
              <a:t>A safety-first self-care companion for older adults</a:t>
            </a:r>
          </a:p>
          <a:p>
            <a:pPr algn="l">
              <a:lnSpc>
                <a:spcPct val="108000"/>
              </a:lnSpc>
              <a:spcBef>
                <a:spcPts val="0"/>
              </a:spcBef>
              <a:spcAft>
                <a:spcPts val="200"/>
              </a:spcAft>
            </a:pPr>
            <a:r>
              <a:rPr sz="1900" b="0">
                <a:solidFill>
                  <a:srgbClr val="6B6861"/>
                </a:solidFill>
                <a:latin typeface="Arimo"/>
              </a:rPr>
              <a:t>managing blood pressure.</a:t>
            </a:r>
          </a:p>
        </p:txBody>
      </p:sp>
      <p:sp>
        <p:nvSpPr>
          <p:cNvPr id="16" name="TextBox 15"/>
          <p:cNvSpPr txBox="1"/>
          <p:nvPr/>
        </p:nvSpPr>
        <p:spPr>
          <a:xfrm>
            <a:off x="704088" y="4261104"/>
            <a:ext cx="5577840" cy="32004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1">
                <a:solidFill>
                  <a:srgbClr val="0B61C9"/>
                </a:solidFill>
                <a:latin typeface="Arimo"/>
              </a:rPr>
              <a:t>Local application  •  Optional model  •  Human confirmation</a:t>
            </a:r>
          </a:p>
        </p:txBody>
      </p:sp>
      <p:sp>
        <p:nvSpPr>
          <p:cNvPr id="17" name="Rounded Rectangle 16"/>
          <p:cNvSpPr/>
          <p:nvPr/>
        </p:nvSpPr>
        <p:spPr>
          <a:xfrm>
            <a:off x="694944" y="4983480"/>
            <a:ext cx="1691640" cy="932688"/>
          </a:xfrm>
          <a:prstGeom prst="roundRect">
            <a:avLst/>
          </a:prstGeom>
          <a:solidFill>
            <a:srgbClr val="FFFFFF"/>
          </a:solidFill>
          <a:ln w="9525">
            <a:solidFill>
              <a:srgbClr val="CBD4D9"/>
            </a:solidFill>
          </a:ln>
          <a:effectLst>
            <a:outerShdw blurRad="30000" dist="18000" dir="2700000" algn="ctr" rotWithShape="0">
              <a:srgbClr val="2F2D29">
                <a:alpha val="12000"/>
              </a:srgbClr>
            </a:outerShdw>
          </a:effectLst>
        </p:spPr>
        <p:txBody>
          <a:bodyPr rtlCol="0" anchor="ctr"/>
          <a:lstStyle/>
          <a:p>
            <a:pPr algn="ctr"/>
          </a:p>
        </p:txBody>
      </p:sp>
      <p:sp>
        <p:nvSpPr>
          <p:cNvPr id="18" name="TextBox 17"/>
          <p:cNvSpPr txBox="1"/>
          <p:nvPr/>
        </p:nvSpPr>
        <p:spPr>
          <a:xfrm>
            <a:off x="850392" y="5120640"/>
            <a:ext cx="132588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000" b="1">
                <a:solidFill>
                  <a:srgbClr val="0B61C9"/>
                </a:solidFill>
                <a:latin typeface="Arimo"/>
              </a:rPr>
              <a:t>3</a:t>
            </a:r>
          </a:p>
        </p:txBody>
      </p:sp>
      <p:sp>
        <p:nvSpPr>
          <p:cNvPr id="19" name="TextBox 18"/>
          <p:cNvSpPr txBox="1"/>
          <p:nvPr/>
        </p:nvSpPr>
        <p:spPr>
          <a:xfrm>
            <a:off x="850392" y="5550408"/>
            <a:ext cx="137160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100" b="0">
                <a:solidFill>
                  <a:srgbClr val="6B6861"/>
                </a:solidFill>
                <a:latin typeface="Arimo"/>
              </a:rPr>
              <a:t>ordered safety gates</a:t>
            </a:r>
          </a:p>
        </p:txBody>
      </p:sp>
      <p:sp>
        <p:nvSpPr>
          <p:cNvPr id="20" name="Rounded Rectangle 19"/>
          <p:cNvSpPr/>
          <p:nvPr/>
        </p:nvSpPr>
        <p:spPr>
          <a:xfrm>
            <a:off x="2651760" y="4983480"/>
            <a:ext cx="1691640" cy="932688"/>
          </a:xfrm>
          <a:prstGeom prst="roundRect">
            <a:avLst/>
          </a:prstGeom>
          <a:solidFill>
            <a:srgbClr val="FFFFFF"/>
          </a:solidFill>
          <a:ln w="9525">
            <a:solidFill>
              <a:srgbClr val="CBD4D9"/>
            </a:solidFill>
          </a:ln>
          <a:effectLst>
            <a:outerShdw blurRad="30000" dist="18000" dir="2700000" algn="ctr" rotWithShape="0">
              <a:srgbClr val="2F2D29">
                <a:alpha val="12000"/>
              </a:srgbClr>
            </a:outerShdw>
          </a:effectLst>
        </p:spPr>
        <p:txBody>
          <a:bodyPr rtlCol="0" anchor="ctr"/>
          <a:lstStyle/>
          <a:p>
            <a:pPr algn="ctr"/>
          </a:p>
        </p:txBody>
      </p:sp>
      <p:sp>
        <p:nvSpPr>
          <p:cNvPr id="21" name="TextBox 20"/>
          <p:cNvSpPr txBox="1"/>
          <p:nvPr/>
        </p:nvSpPr>
        <p:spPr>
          <a:xfrm>
            <a:off x="2807208" y="5120640"/>
            <a:ext cx="132588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000" b="1">
                <a:solidFill>
                  <a:srgbClr val="0B61C9"/>
                </a:solidFill>
                <a:latin typeface="Arimo"/>
              </a:rPr>
              <a:t>10</a:t>
            </a:r>
          </a:p>
        </p:txBody>
      </p:sp>
      <p:sp>
        <p:nvSpPr>
          <p:cNvPr id="22" name="TextBox 21"/>
          <p:cNvSpPr txBox="1"/>
          <p:nvPr/>
        </p:nvSpPr>
        <p:spPr>
          <a:xfrm>
            <a:off x="2807208" y="5550408"/>
            <a:ext cx="137160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100" b="0">
                <a:solidFill>
                  <a:srgbClr val="6B6861"/>
                </a:solidFill>
                <a:latin typeface="Arimo"/>
              </a:rPr>
              <a:t>model-facing tools</a:t>
            </a:r>
          </a:p>
        </p:txBody>
      </p:sp>
      <p:sp>
        <p:nvSpPr>
          <p:cNvPr id="23" name="Rounded Rectangle 22"/>
          <p:cNvSpPr/>
          <p:nvPr/>
        </p:nvSpPr>
        <p:spPr>
          <a:xfrm>
            <a:off x="4608576" y="4983480"/>
            <a:ext cx="1691640" cy="932688"/>
          </a:xfrm>
          <a:prstGeom prst="roundRect">
            <a:avLst/>
          </a:prstGeom>
          <a:solidFill>
            <a:srgbClr val="FFFFFF"/>
          </a:solidFill>
          <a:ln w="9525">
            <a:solidFill>
              <a:srgbClr val="CBD4D9"/>
            </a:solidFill>
          </a:ln>
          <a:effectLst>
            <a:outerShdw blurRad="30000" dist="18000" dir="2700000" algn="ctr" rotWithShape="0">
              <a:srgbClr val="2F2D29">
                <a:alpha val="12000"/>
              </a:srgbClr>
            </a:outerShdw>
          </a:effectLst>
        </p:spPr>
        <p:txBody>
          <a:bodyPr rtlCol="0" anchor="ctr"/>
          <a:lstStyle/>
          <a:p>
            <a:pPr algn="ctr"/>
          </a:p>
        </p:txBody>
      </p:sp>
      <p:sp>
        <p:nvSpPr>
          <p:cNvPr id="24" name="TextBox 23"/>
          <p:cNvSpPr txBox="1"/>
          <p:nvPr/>
        </p:nvSpPr>
        <p:spPr>
          <a:xfrm>
            <a:off x="4764024" y="5120640"/>
            <a:ext cx="132588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000" b="1">
                <a:solidFill>
                  <a:srgbClr val="0B61C9"/>
                </a:solidFill>
                <a:latin typeface="Arimo"/>
              </a:rPr>
              <a:t>13</a:t>
            </a:r>
          </a:p>
        </p:txBody>
      </p:sp>
      <p:sp>
        <p:nvSpPr>
          <p:cNvPr id="25" name="TextBox 24"/>
          <p:cNvSpPr txBox="1"/>
          <p:nvPr/>
        </p:nvSpPr>
        <p:spPr>
          <a:xfrm>
            <a:off x="4764024" y="5550408"/>
            <a:ext cx="137160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100" b="0">
                <a:solidFill>
                  <a:srgbClr val="6B6861"/>
                </a:solidFill>
                <a:latin typeface="Arimo"/>
              </a:rPr>
              <a:t>SQLite tables</a:t>
            </a:r>
          </a:p>
        </p:txBody>
      </p:sp>
      <p:pic>
        <p:nvPicPr>
          <p:cNvPr id="26" name="Picture 25" descr="laptop_screen.png"/>
          <p:cNvPicPr>
            <a:picLocks noChangeAspect="1"/>
          </p:cNvPicPr>
          <p:nvPr/>
        </p:nvPicPr>
        <p:blipFill>
          <a:blip r:embed="rId4"/>
          <a:stretch>
            <a:fillRect/>
          </a:stretch>
        </p:blipFill>
        <p:spPr>
          <a:xfrm>
            <a:off x="8851392" y="2258568"/>
            <a:ext cx="2907792" cy="1645920"/>
          </a:xfrm>
          <a:prstGeom prst="rect">
            <a:avLst/>
          </a:prstGeom>
        </p:spPr>
      </p:pic>
      <p:pic>
        <p:nvPicPr>
          <p:cNvPr id="27" name="Picture 26" descr="laptop.png"/>
          <p:cNvPicPr>
            <a:picLocks noChangeAspect="1"/>
          </p:cNvPicPr>
          <p:nvPr/>
        </p:nvPicPr>
        <p:blipFill>
          <a:blip r:embed="rId5"/>
          <a:stretch>
            <a:fillRect/>
          </a:stretch>
        </p:blipFill>
        <p:spPr>
          <a:xfrm>
            <a:off x="8417051" y="2200046"/>
            <a:ext cx="3744468" cy="2258017"/>
          </a:xfrm>
          <a:prstGeom prst="rect">
            <a:avLst/>
          </a:prstGeom>
        </p:spPr>
      </p:pic>
      <p:pic>
        <p:nvPicPr>
          <p:cNvPr id="28" name="Picture 27" descr="purple_blob.png"/>
          <p:cNvPicPr>
            <a:picLocks noChangeAspect="1"/>
          </p:cNvPicPr>
          <p:nvPr/>
        </p:nvPicPr>
        <p:blipFill>
          <a:blip r:embed="rId6"/>
          <a:stretch>
            <a:fillRect/>
          </a:stretch>
        </p:blipFill>
        <p:spPr>
          <a:xfrm>
            <a:off x="11155680" y="850392"/>
            <a:ext cx="2423160" cy="2077649"/>
          </a:xfrm>
          <a:prstGeom prst="rect">
            <a:avLst/>
          </a:prstGeom>
        </p:spPr>
      </p:pic>
      <p:pic>
        <p:nvPicPr>
          <p:cNvPr id="29" name="Picture 28" descr="phone.png"/>
          <p:cNvPicPr>
            <a:picLocks noChangeAspect="1"/>
          </p:cNvPicPr>
          <p:nvPr/>
        </p:nvPicPr>
        <p:blipFill>
          <a:blip r:embed="rId7"/>
          <a:stretch>
            <a:fillRect/>
          </a:stretch>
        </p:blipFill>
        <p:spPr>
          <a:xfrm>
            <a:off x="8065008" y="1783080"/>
            <a:ext cx="1313034" cy="2487168"/>
          </a:xfrm>
          <a:prstGeom prst="rect">
            <a:avLst/>
          </a:prstGeom>
        </p:spPr>
      </p:pic>
      <p:sp>
        <p:nvSpPr>
          <p:cNvPr id="30" name="Rounded Rectangle 29"/>
          <p:cNvSpPr/>
          <p:nvPr/>
        </p:nvSpPr>
        <p:spPr>
          <a:xfrm>
            <a:off x="8485632" y="5486400"/>
            <a:ext cx="5074920" cy="768096"/>
          </a:xfrm>
          <a:prstGeom prst="roundRect">
            <a:avLst/>
          </a:prstGeom>
          <a:solidFill>
            <a:srgbClr val="EAF7F5"/>
          </a:solidFill>
          <a:ln w="9525">
            <a:solidFill>
              <a:srgbClr val="138F98"/>
            </a:solidFill>
          </a:ln>
          <a:effectLst>
            <a:outerShdw blurRad="30000" dist="18000" dir="2700000" algn="ctr" rotWithShape="0">
              <a:srgbClr val="2F2D29">
                <a:alpha val="12000"/>
              </a:srgbClr>
            </a:outerShdw>
          </a:effectLst>
        </p:spPr>
        <p:txBody>
          <a:bodyPr rtlCol="0" anchor="ctr"/>
          <a:lstStyle/>
          <a:p>
            <a:pPr algn="ctr"/>
          </a:p>
        </p:txBody>
      </p:sp>
      <p:sp>
        <p:nvSpPr>
          <p:cNvPr id="31" name="Rectangle 30"/>
          <p:cNvSpPr/>
          <p:nvPr/>
        </p:nvSpPr>
        <p:spPr>
          <a:xfrm>
            <a:off x="8485632" y="5486400"/>
            <a:ext cx="50292" cy="768096"/>
          </a:xfrm>
          <a:prstGeom prst="rect">
            <a:avLst/>
          </a:prstGeom>
          <a:solidFill>
            <a:srgbClr val="138F98"/>
          </a:solidFill>
          <a:ln>
            <a:noFill/>
          </a:ln>
        </p:spPr>
        <p:txBody>
          <a:bodyPr rtlCol="0" anchor="ctr"/>
          <a:lstStyle/>
          <a:p>
            <a:pPr algn="ctr"/>
          </a:p>
        </p:txBody>
      </p:sp>
      <p:sp>
        <p:nvSpPr>
          <p:cNvPr id="32" name="TextBox 31"/>
          <p:cNvSpPr txBox="1"/>
          <p:nvPr/>
        </p:nvSpPr>
        <p:spPr>
          <a:xfrm>
            <a:off x="8668511" y="5605272"/>
            <a:ext cx="4745736"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One local source of truth</a:t>
            </a:r>
          </a:p>
        </p:txBody>
      </p:sp>
      <p:sp>
        <p:nvSpPr>
          <p:cNvPr id="33" name="TextBox 32"/>
          <p:cNvSpPr txBox="1"/>
          <p:nvPr/>
        </p:nvSpPr>
        <p:spPr>
          <a:xfrm>
            <a:off x="8668511" y="5998464"/>
            <a:ext cx="4764024" cy="164591"/>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Routes, safety, tools and SQLite stay together.</a:t>
            </a:r>
          </a:p>
        </p:txBody>
      </p:sp>
      <p:sp>
        <p:nvSpPr>
          <p:cNvPr id="34" name="Rounded Rectangle 33"/>
          <p:cNvSpPr/>
          <p:nvPr/>
        </p:nvSpPr>
        <p:spPr>
          <a:xfrm>
            <a:off x="685800" y="6967728"/>
            <a:ext cx="13258800" cy="448056"/>
          </a:xfrm>
          <a:prstGeom prst="roundRect">
            <a:avLst/>
          </a:prstGeom>
          <a:solidFill>
            <a:srgbClr val="EEF5FB"/>
          </a:solidFill>
          <a:ln>
            <a:noFill/>
          </a:ln>
        </p:spPr>
        <p:txBody>
          <a:bodyPr rtlCol="0" anchor="ctr"/>
          <a:lstStyle/>
          <a:p>
            <a:pPr algn="ctr"/>
          </a:p>
        </p:txBody>
      </p:sp>
      <p:sp>
        <p:nvSpPr>
          <p:cNvPr id="35" name="Rectangle 34"/>
          <p:cNvSpPr/>
          <p:nvPr/>
        </p:nvSpPr>
        <p:spPr>
          <a:xfrm>
            <a:off x="850392" y="7123176"/>
            <a:ext cx="82296" cy="137160"/>
          </a:xfrm>
          <a:prstGeom prst="rect">
            <a:avLst/>
          </a:prstGeom>
          <a:solidFill>
            <a:srgbClr val="0B61C9"/>
          </a:solidFill>
          <a:ln>
            <a:noFill/>
          </a:ln>
        </p:spPr>
        <p:txBody>
          <a:bodyPr rtlCol="0" anchor="ctr"/>
          <a:lstStyle/>
          <a:p>
            <a:pPr algn="ctr"/>
          </a:p>
        </p:txBody>
      </p:sp>
      <p:sp>
        <p:nvSpPr>
          <p:cNvPr id="36" name="TextBox 35"/>
          <p:cNvSpPr txBox="1"/>
          <p:nvPr/>
        </p:nvSpPr>
        <p:spPr>
          <a:xfrm>
            <a:off x="1060704" y="7050024"/>
            <a:ext cx="12618720" cy="28346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0B61C9"/>
                </a:solidFill>
                <a:latin typeface="Arimo"/>
              </a:rPr>
              <a:t>Healthcare Challenge 2  |  AI Healthier Every Day  |  Competition prototype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2_background.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658368" y="246888"/>
            <a:ext cx="256032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1">
                <a:solidFill>
                  <a:srgbClr val="6B6861"/>
                </a:solidFill>
                <a:latin typeface="Arimo"/>
              </a:rPr>
              <a:t>CARESteps  /  ARCHITECTURE</a:t>
            </a:r>
          </a:p>
        </p:txBody>
      </p:sp>
      <p:sp>
        <p:nvSpPr>
          <p:cNvPr id="4" name="Rectangle 3"/>
          <p:cNvSpPr/>
          <p:nvPr/>
        </p:nvSpPr>
        <p:spPr>
          <a:xfrm>
            <a:off x="2331720" y="347472"/>
            <a:ext cx="9464040" cy="10972"/>
          </a:xfrm>
          <a:prstGeom prst="rect">
            <a:avLst/>
          </a:prstGeom>
          <a:solidFill>
            <a:srgbClr val="CBD4D9"/>
          </a:solidFill>
          <a:ln>
            <a:noFill/>
          </a:ln>
        </p:spPr>
        <p:txBody>
          <a:bodyPr rtlCol="0" anchor="ctr"/>
          <a:lstStyle/>
          <a:p>
            <a:pPr algn="ctr"/>
          </a:p>
        </p:txBody>
      </p:sp>
      <p:sp>
        <p:nvSpPr>
          <p:cNvPr id="5" name="TextBox 4"/>
          <p:cNvSpPr txBox="1"/>
          <p:nvPr/>
        </p:nvSpPr>
        <p:spPr>
          <a:xfrm>
            <a:off x="12435840" y="246888"/>
            <a:ext cx="1508760" cy="201168"/>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900" b="0">
                <a:solidFill>
                  <a:srgbClr val="6B6861"/>
                </a:solidFill>
                <a:latin typeface="Arimo"/>
              </a:rPr>
              <a:t>16 OCT 2026</a:t>
            </a:r>
          </a:p>
        </p:txBody>
      </p:sp>
      <p:sp>
        <p:nvSpPr>
          <p:cNvPr id="6" name="TextBox 5"/>
          <p:cNvSpPr txBox="1"/>
          <p:nvPr/>
        </p:nvSpPr>
        <p:spPr>
          <a:xfrm>
            <a:off x="658368" y="612648"/>
            <a:ext cx="13121640" cy="50292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100" b="1">
                <a:solidFill>
                  <a:srgbClr val="2F2D29"/>
                </a:solidFill>
                <a:latin typeface="Arimo"/>
              </a:rPr>
              <a:t>System Architecture</a:t>
            </a:r>
          </a:p>
        </p:txBody>
      </p:sp>
      <p:sp>
        <p:nvSpPr>
          <p:cNvPr id="7" name="TextBox 6"/>
          <p:cNvSpPr txBox="1"/>
          <p:nvPr/>
        </p:nvSpPr>
        <p:spPr>
          <a:xfrm>
            <a:off x="685800" y="1161288"/>
            <a:ext cx="1271016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50" b="0">
                <a:solidFill>
                  <a:srgbClr val="6B6861"/>
                </a:solidFill>
                <a:latin typeface="Arimo"/>
              </a:rPr>
              <a:t>A local FastAPI application owns decisions, validation and storage; the model is optional.</a:t>
            </a:r>
          </a:p>
        </p:txBody>
      </p:sp>
      <p:sp>
        <p:nvSpPr>
          <p:cNvPr id="8" name="Rectangle 7"/>
          <p:cNvSpPr/>
          <p:nvPr/>
        </p:nvSpPr>
        <p:spPr>
          <a:xfrm>
            <a:off x="685800" y="7626096"/>
            <a:ext cx="13258800" cy="10972"/>
          </a:xfrm>
          <a:prstGeom prst="rect">
            <a:avLst/>
          </a:prstGeom>
          <a:solidFill>
            <a:srgbClr val="CBD4D9"/>
          </a:solidFill>
          <a:ln>
            <a:noFill/>
          </a:ln>
        </p:spPr>
        <p:txBody>
          <a:bodyPr rtlCol="0" anchor="ctr"/>
          <a:lstStyle/>
          <a:p>
            <a:pPr algn="ctr"/>
          </a:p>
        </p:txBody>
      </p:sp>
      <p:sp>
        <p:nvSpPr>
          <p:cNvPr id="9" name="TextBox 8"/>
          <p:cNvSpPr txBox="1"/>
          <p:nvPr/>
        </p:nvSpPr>
        <p:spPr>
          <a:xfrm>
            <a:off x="685800" y="7754112"/>
            <a:ext cx="24688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CareSteps  |  Healthcare Challenge 2</a:t>
            </a:r>
          </a:p>
        </p:txBody>
      </p:sp>
      <p:sp>
        <p:nvSpPr>
          <p:cNvPr id="10" name="TextBox 9"/>
          <p:cNvSpPr txBox="1"/>
          <p:nvPr/>
        </p:nvSpPr>
        <p:spPr>
          <a:xfrm>
            <a:off x="3291840" y="7754112"/>
            <a:ext cx="88696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app/main.py | app/routes/api.py | app/llm/orchestrator.py | app/repository.py</a:t>
            </a:r>
          </a:p>
        </p:txBody>
      </p:sp>
      <p:sp>
        <p:nvSpPr>
          <p:cNvPr id="11" name="TextBox 10"/>
          <p:cNvSpPr txBox="1"/>
          <p:nvPr/>
        </p:nvSpPr>
        <p:spPr>
          <a:xfrm>
            <a:off x="12966192" y="7726679"/>
            <a:ext cx="960120" cy="228600"/>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1000" b="0">
                <a:solidFill>
                  <a:srgbClr val="6B6861"/>
                </a:solidFill>
                <a:latin typeface="Arimo"/>
              </a:rPr>
              <a:t>02 / 09</a:t>
            </a:r>
          </a:p>
        </p:txBody>
      </p:sp>
      <p:sp>
        <p:nvSpPr>
          <p:cNvPr id="12" name="Rounded Rectangle 11"/>
          <p:cNvSpPr/>
          <p:nvPr/>
        </p:nvSpPr>
        <p:spPr>
          <a:xfrm>
            <a:off x="658368" y="1993392"/>
            <a:ext cx="2148840" cy="932688"/>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13" name="Rectangle 12"/>
          <p:cNvSpPr/>
          <p:nvPr/>
        </p:nvSpPr>
        <p:spPr>
          <a:xfrm>
            <a:off x="658368" y="1993392"/>
            <a:ext cx="50292" cy="932688"/>
          </a:xfrm>
          <a:prstGeom prst="rect">
            <a:avLst/>
          </a:prstGeom>
          <a:solidFill>
            <a:srgbClr val="0B61C9"/>
          </a:solidFill>
          <a:ln>
            <a:noFill/>
          </a:ln>
        </p:spPr>
        <p:txBody>
          <a:bodyPr rtlCol="0" anchor="ctr"/>
          <a:lstStyle/>
          <a:p>
            <a:pPr algn="ctr"/>
          </a:p>
        </p:txBody>
      </p:sp>
      <p:sp>
        <p:nvSpPr>
          <p:cNvPr id="14" name="TextBox 13"/>
          <p:cNvSpPr txBox="1"/>
          <p:nvPr/>
        </p:nvSpPr>
        <p:spPr>
          <a:xfrm>
            <a:off x="841247" y="2112264"/>
            <a:ext cx="1819656"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1">
                <a:solidFill>
                  <a:srgbClr val="2F2D29"/>
                </a:solidFill>
                <a:latin typeface="Arimo"/>
              </a:rPr>
              <a:t>Browser UI</a:t>
            </a:r>
          </a:p>
        </p:txBody>
      </p:sp>
      <p:sp>
        <p:nvSpPr>
          <p:cNvPr id="15" name="TextBox 14"/>
          <p:cNvSpPr txBox="1"/>
          <p:nvPr/>
        </p:nvSpPr>
        <p:spPr>
          <a:xfrm>
            <a:off x="841247" y="2505456"/>
            <a:ext cx="1837944" cy="32918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Jinja + JS + CSS</a:t>
            </a:r>
          </a:p>
        </p:txBody>
      </p:sp>
      <p:cxnSp>
        <p:nvCxnSpPr>
          <p:cNvPr id="16" name="Connector 15"/>
          <p:cNvCxnSpPr/>
          <p:nvPr/>
        </p:nvCxnSpPr>
        <p:spPr>
          <a:xfrm>
            <a:off x="2834640" y="2459736"/>
            <a:ext cx="475488" cy="0"/>
          </a:xfrm>
          <a:prstGeom prst="line">
            <a:avLst/>
          </a:prstGeom>
          <a:ln w="21590">
            <a:solidFill>
              <a:srgbClr val="0B61C9"/>
            </a:solidFill>
            <a:tailEnd type="triangle" w="sm" len="sm"/>
            <a:headEnd type="triangle" w="sm" len="sm"/>
          </a:ln>
        </p:spPr>
      </p:cxnSp>
      <p:sp>
        <p:nvSpPr>
          <p:cNvPr id="17" name="Rounded Rectangle 16"/>
          <p:cNvSpPr/>
          <p:nvPr/>
        </p:nvSpPr>
        <p:spPr>
          <a:xfrm>
            <a:off x="3310128" y="1664208"/>
            <a:ext cx="7635240" cy="5166360"/>
          </a:xfrm>
          <a:prstGeom prst="roundRect">
            <a:avLst/>
          </a:prstGeom>
          <a:solidFill>
            <a:srgbClr val="FFFFFF"/>
          </a:solidFill>
          <a:ln w="9525">
            <a:solidFill>
              <a:srgbClr val="0B61C9"/>
            </a:solidFill>
          </a:ln>
        </p:spPr>
        <p:txBody>
          <a:bodyPr rtlCol="0" anchor="ctr"/>
          <a:lstStyle/>
          <a:p>
            <a:pPr algn="ctr"/>
          </a:p>
        </p:txBody>
      </p:sp>
      <p:sp>
        <p:nvSpPr>
          <p:cNvPr id="18" name="TextBox 17"/>
          <p:cNvSpPr txBox="1"/>
          <p:nvPr/>
        </p:nvSpPr>
        <p:spPr>
          <a:xfrm>
            <a:off x="3566160" y="1847088"/>
            <a:ext cx="6995160" cy="22860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200" b="1">
                <a:solidFill>
                  <a:srgbClr val="0B61C9"/>
                </a:solidFill>
                <a:latin typeface="Arimo"/>
              </a:rPr>
              <a:t>APPLICATION HOST  /  FastAPI + Python</a:t>
            </a:r>
          </a:p>
        </p:txBody>
      </p:sp>
      <p:sp>
        <p:nvSpPr>
          <p:cNvPr id="19" name="Rounded Rectangle 18"/>
          <p:cNvSpPr/>
          <p:nvPr/>
        </p:nvSpPr>
        <p:spPr>
          <a:xfrm>
            <a:off x="3584448" y="2240280"/>
            <a:ext cx="2084831" cy="786384"/>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20" name="Rectangle 19"/>
          <p:cNvSpPr/>
          <p:nvPr/>
        </p:nvSpPr>
        <p:spPr>
          <a:xfrm>
            <a:off x="3584448" y="2240280"/>
            <a:ext cx="50292" cy="786384"/>
          </a:xfrm>
          <a:prstGeom prst="rect">
            <a:avLst/>
          </a:prstGeom>
          <a:solidFill>
            <a:srgbClr val="0B61C9"/>
          </a:solidFill>
          <a:ln>
            <a:noFill/>
          </a:ln>
        </p:spPr>
        <p:txBody>
          <a:bodyPr rtlCol="0" anchor="ctr"/>
          <a:lstStyle/>
          <a:p>
            <a:pPr algn="ctr"/>
          </a:p>
        </p:txBody>
      </p:sp>
      <p:sp>
        <p:nvSpPr>
          <p:cNvPr id="21" name="TextBox 20"/>
          <p:cNvSpPr txBox="1"/>
          <p:nvPr/>
        </p:nvSpPr>
        <p:spPr>
          <a:xfrm>
            <a:off x="3767328" y="2359152"/>
            <a:ext cx="1755648"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Routes</a:t>
            </a:r>
          </a:p>
        </p:txBody>
      </p:sp>
      <p:sp>
        <p:nvSpPr>
          <p:cNvPr id="22" name="TextBox 21"/>
          <p:cNvSpPr txBox="1"/>
          <p:nvPr/>
        </p:nvSpPr>
        <p:spPr>
          <a:xfrm>
            <a:off x="3767328" y="2752344"/>
            <a:ext cx="1773935" cy="182879"/>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Forms + /api/chat</a:t>
            </a:r>
          </a:p>
        </p:txBody>
      </p:sp>
      <p:sp>
        <p:nvSpPr>
          <p:cNvPr id="23" name="Rounded Rectangle 22"/>
          <p:cNvSpPr/>
          <p:nvPr/>
        </p:nvSpPr>
        <p:spPr>
          <a:xfrm>
            <a:off x="5989320" y="2240280"/>
            <a:ext cx="2331720" cy="786384"/>
          </a:xfrm>
          <a:prstGeom prst="roundRect">
            <a:avLst/>
          </a:prstGeom>
          <a:solidFill>
            <a:srgbClr val="FDF0EE"/>
          </a:solidFill>
          <a:ln w="9525">
            <a:solidFill>
              <a:srgbClr val="C74C48"/>
            </a:solidFill>
          </a:ln>
          <a:effectLst>
            <a:outerShdw blurRad="30000" dist="18000" dir="2700000" algn="ctr" rotWithShape="0">
              <a:srgbClr val="2F2D29">
                <a:alpha val="12000"/>
              </a:srgbClr>
            </a:outerShdw>
          </a:effectLst>
        </p:spPr>
        <p:txBody>
          <a:bodyPr rtlCol="0" anchor="ctr"/>
          <a:lstStyle/>
          <a:p>
            <a:pPr algn="ctr"/>
          </a:p>
        </p:txBody>
      </p:sp>
      <p:sp>
        <p:nvSpPr>
          <p:cNvPr id="24" name="Rectangle 23"/>
          <p:cNvSpPr/>
          <p:nvPr/>
        </p:nvSpPr>
        <p:spPr>
          <a:xfrm>
            <a:off x="5989320" y="2240280"/>
            <a:ext cx="50292" cy="786384"/>
          </a:xfrm>
          <a:prstGeom prst="rect">
            <a:avLst/>
          </a:prstGeom>
          <a:solidFill>
            <a:srgbClr val="C74C48"/>
          </a:solidFill>
          <a:ln>
            <a:noFill/>
          </a:ln>
        </p:spPr>
        <p:txBody>
          <a:bodyPr rtlCol="0" anchor="ctr"/>
          <a:lstStyle/>
          <a:p>
            <a:pPr algn="ctr"/>
          </a:p>
        </p:txBody>
      </p:sp>
      <p:sp>
        <p:nvSpPr>
          <p:cNvPr id="25" name="TextBox 24"/>
          <p:cNvSpPr txBox="1"/>
          <p:nvPr/>
        </p:nvSpPr>
        <p:spPr>
          <a:xfrm>
            <a:off x="6172200" y="2359152"/>
            <a:ext cx="2002536"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Safety router</a:t>
            </a:r>
          </a:p>
        </p:txBody>
      </p:sp>
      <p:sp>
        <p:nvSpPr>
          <p:cNvPr id="26" name="TextBox 25"/>
          <p:cNvSpPr txBox="1"/>
          <p:nvPr/>
        </p:nvSpPr>
        <p:spPr>
          <a:xfrm>
            <a:off x="6172200" y="2752344"/>
            <a:ext cx="2020824" cy="182879"/>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3 ordered gates</a:t>
            </a:r>
          </a:p>
        </p:txBody>
      </p:sp>
      <p:sp>
        <p:nvSpPr>
          <p:cNvPr id="27" name="Rounded Rectangle 26"/>
          <p:cNvSpPr/>
          <p:nvPr/>
        </p:nvSpPr>
        <p:spPr>
          <a:xfrm>
            <a:off x="8659368" y="2240280"/>
            <a:ext cx="1984248" cy="786384"/>
          </a:xfrm>
          <a:prstGeom prst="roundRect">
            <a:avLst/>
          </a:prstGeom>
          <a:solidFill>
            <a:srgbClr val="FFFFFF"/>
          </a:solidFill>
          <a:ln w="9525">
            <a:solidFill>
              <a:srgbClr val="138F98"/>
            </a:solidFill>
          </a:ln>
          <a:effectLst>
            <a:outerShdw blurRad="30000" dist="18000" dir="2700000" algn="ctr" rotWithShape="0">
              <a:srgbClr val="2F2D29">
                <a:alpha val="12000"/>
              </a:srgbClr>
            </a:outerShdw>
          </a:effectLst>
        </p:spPr>
        <p:txBody>
          <a:bodyPr rtlCol="0" anchor="ctr"/>
          <a:lstStyle/>
          <a:p>
            <a:pPr algn="ctr"/>
          </a:p>
        </p:txBody>
      </p:sp>
      <p:sp>
        <p:nvSpPr>
          <p:cNvPr id="28" name="Rectangle 27"/>
          <p:cNvSpPr/>
          <p:nvPr/>
        </p:nvSpPr>
        <p:spPr>
          <a:xfrm>
            <a:off x="8659368" y="2240280"/>
            <a:ext cx="50292" cy="786384"/>
          </a:xfrm>
          <a:prstGeom prst="rect">
            <a:avLst/>
          </a:prstGeom>
          <a:solidFill>
            <a:srgbClr val="138F98"/>
          </a:solidFill>
          <a:ln>
            <a:noFill/>
          </a:ln>
        </p:spPr>
        <p:txBody>
          <a:bodyPr rtlCol="0" anchor="ctr"/>
          <a:lstStyle/>
          <a:p>
            <a:pPr algn="ctr"/>
          </a:p>
        </p:txBody>
      </p:sp>
      <p:sp>
        <p:nvSpPr>
          <p:cNvPr id="29" name="TextBox 28"/>
          <p:cNvSpPr txBox="1"/>
          <p:nvPr/>
        </p:nvSpPr>
        <p:spPr>
          <a:xfrm>
            <a:off x="8842248" y="2359152"/>
            <a:ext cx="1655064"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Orchestrator</a:t>
            </a:r>
          </a:p>
        </p:txBody>
      </p:sp>
      <p:sp>
        <p:nvSpPr>
          <p:cNvPr id="30" name="TextBox 29"/>
          <p:cNvSpPr txBox="1"/>
          <p:nvPr/>
        </p:nvSpPr>
        <p:spPr>
          <a:xfrm>
            <a:off x="8842248" y="2752344"/>
            <a:ext cx="1673351" cy="182879"/>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Live loop / fallback</a:t>
            </a:r>
          </a:p>
        </p:txBody>
      </p:sp>
      <p:cxnSp>
        <p:nvCxnSpPr>
          <p:cNvPr id="31" name="Connector 30"/>
          <p:cNvCxnSpPr/>
          <p:nvPr/>
        </p:nvCxnSpPr>
        <p:spPr>
          <a:xfrm>
            <a:off x="5696712" y="2633472"/>
            <a:ext cx="246888" cy="0"/>
          </a:xfrm>
          <a:prstGeom prst="line">
            <a:avLst/>
          </a:prstGeom>
          <a:ln w="21590">
            <a:solidFill>
              <a:srgbClr val="0B61C9"/>
            </a:solidFill>
            <a:tailEnd type="triangle" w="sm" len="sm"/>
          </a:ln>
        </p:spPr>
      </p:cxnSp>
      <p:cxnSp>
        <p:nvCxnSpPr>
          <p:cNvPr id="32" name="Connector 31"/>
          <p:cNvCxnSpPr/>
          <p:nvPr/>
        </p:nvCxnSpPr>
        <p:spPr>
          <a:xfrm>
            <a:off x="8339327" y="2633472"/>
            <a:ext cx="283465" cy="0"/>
          </a:xfrm>
          <a:prstGeom prst="line">
            <a:avLst/>
          </a:prstGeom>
          <a:ln w="21590">
            <a:solidFill>
              <a:srgbClr val="C74C48"/>
            </a:solidFill>
            <a:tailEnd type="triangle" w="sm" len="sm"/>
          </a:ln>
        </p:spPr>
      </p:cxnSp>
      <p:sp>
        <p:nvSpPr>
          <p:cNvPr id="33" name="Rounded Rectangle 32"/>
          <p:cNvSpPr/>
          <p:nvPr/>
        </p:nvSpPr>
        <p:spPr>
          <a:xfrm>
            <a:off x="3584448" y="3456432"/>
            <a:ext cx="2084831" cy="786384"/>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34" name="Rectangle 33"/>
          <p:cNvSpPr/>
          <p:nvPr/>
        </p:nvSpPr>
        <p:spPr>
          <a:xfrm>
            <a:off x="3584448" y="3456432"/>
            <a:ext cx="50292" cy="786384"/>
          </a:xfrm>
          <a:prstGeom prst="rect">
            <a:avLst/>
          </a:prstGeom>
          <a:solidFill>
            <a:srgbClr val="0B61C9"/>
          </a:solidFill>
          <a:ln>
            <a:noFill/>
          </a:ln>
        </p:spPr>
        <p:txBody>
          <a:bodyPr rtlCol="0" anchor="ctr"/>
          <a:lstStyle/>
          <a:p>
            <a:pPr algn="ctr"/>
          </a:p>
        </p:txBody>
      </p:sp>
      <p:sp>
        <p:nvSpPr>
          <p:cNvPr id="35" name="TextBox 34"/>
          <p:cNvSpPr txBox="1"/>
          <p:nvPr/>
        </p:nvSpPr>
        <p:spPr>
          <a:xfrm>
            <a:off x="3767328" y="3575303"/>
            <a:ext cx="1755648"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Output check</a:t>
            </a:r>
          </a:p>
        </p:txBody>
      </p:sp>
      <p:sp>
        <p:nvSpPr>
          <p:cNvPr id="36" name="TextBox 35"/>
          <p:cNvSpPr txBox="1"/>
          <p:nvPr/>
        </p:nvSpPr>
        <p:spPr>
          <a:xfrm>
            <a:off x="3767328" y="3968496"/>
            <a:ext cx="1773935" cy="182879"/>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Live prose + numbers</a:t>
            </a:r>
          </a:p>
        </p:txBody>
      </p:sp>
      <p:sp>
        <p:nvSpPr>
          <p:cNvPr id="37" name="Rounded Rectangle 36"/>
          <p:cNvSpPr/>
          <p:nvPr/>
        </p:nvSpPr>
        <p:spPr>
          <a:xfrm>
            <a:off x="5989320" y="3456432"/>
            <a:ext cx="2331720" cy="786384"/>
          </a:xfrm>
          <a:prstGeom prst="roundRect">
            <a:avLst/>
          </a:prstGeom>
          <a:solidFill>
            <a:srgbClr val="FFFFFF"/>
          </a:solidFill>
          <a:ln w="9525">
            <a:solidFill>
              <a:srgbClr val="138F98"/>
            </a:solidFill>
          </a:ln>
          <a:effectLst>
            <a:outerShdw blurRad="30000" dist="18000" dir="2700000" algn="ctr" rotWithShape="0">
              <a:srgbClr val="2F2D29">
                <a:alpha val="12000"/>
              </a:srgbClr>
            </a:outerShdw>
          </a:effectLst>
        </p:spPr>
        <p:txBody>
          <a:bodyPr rtlCol="0" anchor="ctr"/>
          <a:lstStyle/>
          <a:p>
            <a:pPr algn="ctr"/>
          </a:p>
        </p:txBody>
      </p:sp>
      <p:sp>
        <p:nvSpPr>
          <p:cNvPr id="38" name="Rectangle 37"/>
          <p:cNvSpPr/>
          <p:nvPr/>
        </p:nvSpPr>
        <p:spPr>
          <a:xfrm>
            <a:off x="5989320" y="3456432"/>
            <a:ext cx="50292" cy="786384"/>
          </a:xfrm>
          <a:prstGeom prst="rect">
            <a:avLst/>
          </a:prstGeom>
          <a:solidFill>
            <a:srgbClr val="138F98"/>
          </a:solidFill>
          <a:ln>
            <a:noFill/>
          </a:ln>
        </p:spPr>
        <p:txBody>
          <a:bodyPr rtlCol="0" anchor="ctr"/>
          <a:lstStyle/>
          <a:p>
            <a:pPr algn="ctr"/>
          </a:p>
        </p:txBody>
      </p:sp>
      <p:sp>
        <p:nvSpPr>
          <p:cNvPr id="39" name="TextBox 38"/>
          <p:cNvSpPr txBox="1"/>
          <p:nvPr/>
        </p:nvSpPr>
        <p:spPr>
          <a:xfrm>
            <a:off x="6172200" y="3575303"/>
            <a:ext cx="2002536"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Tools + statistics</a:t>
            </a:r>
          </a:p>
        </p:txBody>
      </p:sp>
      <p:sp>
        <p:nvSpPr>
          <p:cNvPr id="40" name="TextBox 39"/>
          <p:cNvSpPr txBox="1"/>
          <p:nvPr/>
        </p:nvSpPr>
        <p:spPr>
          <a:xfrm>
            <a:off x="6172200" y="3968496"/>
            <a:ext cx="2020824" cy="182879"/>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10 named contracts</a:t>
            </a:r>
          </a:p>
        </p:txBody>
      </p:sp>
      <p:sp>
        <p:nvSpPr>
          <p:cNvPr id="41" name="Rounded Rectangle 40"/>
          <p:cNvSpPr/>
          <p:nvPr/>
        </p:nvSpPr>
        <p:spPr>
          <a:xfrm>
            <a:off x="8659368" y="3456432"/>
            <a:ext cx="1984248" cy="786384"/>
          </a:xfrm>
          <a:prstGeom prst="roundRect">
            <a:avLst/>
          </a:prstGeom>
          <a:solidFill>
            <a:srgbClr val="FFFFFF"/>
          </a:solidFill>
          <a:ln w="9525">
            <a:solidFill>
              <a:srgbClr val="138F98"/>
            </a:solidFill>
          </a:ln>
          <a:effectLst>
            <a:outerShdw blurRad="30000" dist="18000" dir="2700000" algn="ctr" rotWithShape="0">
              <a:srgbClr val="2F2D29">
                <a:alpha val="12000"/>
              </a:srgbClr>
            </a:outerShdw>
          </a:effectLst>
        </p:spPr>
        <p:txBody>
          <a:bodyPr rtlCol="0" anchor="ctr"/>
          <a:lstStyle/>
          <a:p>
            <a:pPr algn="ctr"/>
          </a:p>
        </p:txBody>
      </p:sp>
      <p:sp>
        <p:nvSpPr>
          <p:cNvPr id="42" name="Rectangle 41"/>
          <p:cNvSpPr/>
          <p:nvPr/>
        </p:nvSpPr>
        <p:spPr>
          <a:xfrm>
            <a:off x="8659368" y="3456432"/>
            <a:ext cx="50292" cy="786384"/>
          </a:xfrm>
          <a:prstGeom prst="rect">
            <a:avLst/>
          </a:prstGeom>
          <a:solidFill>
            <a:srgbClr val="138F98"/>
          </a:solidFill>
          <a:ln>
            <a:noFill/>
          </a:ln>
        </p:spPr>
        <p:txBody>
          <a:bodyPr rtlCol="0" anchor="ctr"/>
          <a:lstStyle/>
          <a:p>
            <a:pPr algn="ctr"/>
          </a:p>
        </p:txBody>
      </p:sp>
      <p:sp>
        <p:nvSpPr>
          <p:cNvPr id="43" name="TextBox 42"/>
          <p:cNvSpPr txBox="1"/>
          <p:nvPr/>
        </p:nvSpPr>
        <p:spPr>
          <a:xfrm>
            <a:off x="8842248" y="3575303"/>
            <a:ext cx="1655064"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Repository</a:t>
            </a:r>
          </a:p>
        </p:txBody>
      </p:sp>
      <p:sp>
        <p:nvSpPr>
          <p:cNvPr id="44" name="TextBox 43"/>
          <p:cNvSpPr txBox="1"/>
          <p:nvPr/>
        </p:nvSpPr>
        <p:spPr>
          <a:xfrm>
            <a:off x="8842248" y="3968496"/>
            <a:ext cx="1673351" cy="182879"/>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Validated SQL</a:t>
            </a:r>
          </a:p>
        </p:txBody>
      </p:sp>
      <p:cxnSp>
        <p:nvCxnSpPr>
          <p:cNvPr id="45" name="Connector 44"/>
          <p:cNvCxnSpPr/>
          <p:nvPr/>
        </p:nvCxnSpPr>
        <p:spPr>
          <a:xfrm>
            <a:off x="9646920" y="3054096"/>
            <a:ext cx="0" cy="365760"/>
          </a:xfrm>
          <a:prstGeom prst="line">
            <a:avLst/>
          </a:prstGeom>
          <a:ln w="21590">
            <a:solidFill>
              <a:srgbClr val="138F98"/>
            </a:solidFill>
            <a:tailEnd type="triangle" w="sm" len="sm"/>
          </a:ln>
        </p:spPr>
      </p:cxnSp>
      <p:cxnSp>
        <p:nvCxnSpPr>
          <p:cNvPr id="46" name="Connector 45"/>
          <p:cNvCxnSpPr/>
          <p:nvPr/>
        </p:nvCxnSpPr>
        <p:spPr>
          <a:xfrm flipH="1">
            <a:off x="8357616" y="3849624"/>
            <a:ext cx="265176" cy="0"/>
          </a:xfrm>
          <a:prstGeom prst="line">
            <a:avLst/>
          </a:prstGeom>
          <a:ln w="21590">
            <a:solidFill>
              <a:srgbClr val="138F98"/>
            </a:solidFill>
            <a:tailEnd type="triangle" w="sm" len="sm"/>
          </a:ln>
        </p:spPr>
      </p:cxnSp>
      <p:cxnSp>
        <p:nvCxnSpPr>
          <p:cNvPr id="47" name="Connector 46"/>
          <p:cNvCxnSpPr/>
          <p:nvPr/>
        </p:nvCxnSpPr>
        <p:spPr>
          <a:xfrm flipH="1">
            <a:off x="5696712" y="3849624"/>
            <a:ext cx="246888" cy="0"/>
          </a:xfrm>
          <a:prstGeom prst="line">
            <a:avLst/>
          </a:prstGeom>
          <a:ln w="21590">
            <a:solidFill>
              <a:srgbClr val="0B61C9"/>
            </a:solidFill>
            <a:tailEnd type="triangle" w="sm" len="sm"/>
          </a:ln>
        </p:spPr>
      </p:cxnSp>
      <p:sp>
        <p:nvSpPr>
          <p:cNvPr id="48" name="Rounded Rectangle 47"/>
          <p:cNvSpPr/>
          <p:nvPr/>
        </p:nvSpPr>
        <p:spPr>
          <a:xfrm>
            <a:off x="5989320" y="4800600"/>
            <a:ext cx="2331720" cy="786384"/>
          </a:xfrm>
          <a:prstGeom prst="roundRect">
            <a:avLst/>
          </a:prstGeom>
          <a:solidFill>
            <a:srgbClr val="EEF5FB"/>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49" name="Rectangle 48"/>
          <p:cNvSpPr/>
          <p:nvPr/>
        </p:nvSpPr>
        <p:spPr>
          <a:xfrm>
            <a:off x="5989320" y="4800600"/>
            <a:ext cx="50292" cy="786384"/>
          </a:xfrm>
          <a:prstGeom prst="rect">
            <a:avLst/>
          </a:prstGeom>
          <a:solidFill>
            <a:srgbClr val="0B61C9"/>
          </a:solidFill>
          <a:ln>
            <a:noFill/>
          </a:ln>
        </p:spPr>
        <p:txBody>
          <a:bodyPr rtlCol="0" anchor="ctr"/>
          <a:lstStyle/>
          <a:p>
            <a:pPr algn="ctr"/>
          </a:p>
        </p:txBody>
      </p:sp>
      <p:sp>
        <p:nvSpPr>
          <p:cNvPr id="50" name="TextBox 49"/>
          <p:cNvSpPr txBox="1"/>
          <p:nvPr/>
        </p:nvSpPr>
        <p:spPr>
          <a:xfrm>
            <a:off x="6172200" y="4919472"/>
            <a:ext cx="2002536"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SQLite</a:t>
            </a:r>
          </a:p>
        </p:txBody>
      </p:sp>
      <p:sp>
        <p:nvSpPr>
          <p:cNvPr id="51" name="TextBox 50"/>
          <p:cNvSpPr txBox="1"/>
          <p:nvPr/>
        </p:nvSpPr>
        <p:spPr>
          <a:xfrm>
            <a:off x="6172200" y="5312664"/>
            <a:ext cx="2020824" cy="182879"/>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Records + audit</a:t>
            </a:r>
          </a:p>
        </p:txBody>
      </p:sp>
      <p:cxnSp>
        <p:nvCxnSpPr>
          <p:cNvPr id="52" name="Connector 51"/>
          <p:cNvCxnSpPr/>
          <p:nvPr/>
        </p:nvCxnSpPr>
        <p:spPr>
          <a:xfrm>
            <a:off x="7315200" y="4270248"/>
            <a:ext cx="0" cy="484632"/>
          </a:xfrm>
          <a:prstGeom prst="line">
            <a:avLst/>
          </a:prstGeom>
          <a:ln w="21590">
            <a:solidFill>
              <a:srgbClr val="0B61C9"/>
            </a:solidFill>
            <a:tailEnd type="triangle" w="sm" len="sm"/>
            <a:headEnd type="triangle" w="sm" len="sm"/>
          </a:ln>
        </p:spPr>
      </p:cxnSp>
      <p:sp>
        <p:nvSpPr>
          <p:cNvPr id="53" name="Rounded Rectangle 52"/>
          <p:cNvSpPr/>
          <p:nvPr/>
        </p:nvSpPr>
        <p:spPr>
          <a:xfrm>
            <a:off x="8659368" y="4800600"/>
            <a:ext cx="1984248" cy="786384"/>
          </a:xfrm>
          <a:prstGeom prst="roundRect">
            <a:avLst/>
          </a:prstGeom>
          <a:solidFill>
            <a:srgbClr val="FAF3E5"/>
          </a:solidFill>
          <a:ln w="9525">
            <a:solidFill>
              <a:srgbClr val="A77722"/>
            </a:solidFill>
          </a:ln>
          <a:effectLst>
            <a:outerShdw blurRad="30000" dist="18000" dir="2700000" algn="ctr" rotWithShape="0">
              <a:srgbClr val="2F2D29">
                <a:alpha val="12000"/>
              </a:srgbClr>
            </a:outerShdw>
          </a:effectLst>
        </p:spPr>
        <p:txBody>
          <a:bodyPr rtlCol="0" anchor="ctr"/>
          <a:lstStyle/>
          <a:p>
            <a:pPr algn="ctr"/>
          </a:p>
        </p:txBody>
      </p:sp>
      <p:sp>
        <p:nvSpPr>
          <p:cNvPr id="54" name="Rectangle 53"/>
          <p:cNvSpPr/>
          <p:nvPr/>
        </p:nvSpPr>
        <p:spPr>
          <a:xfrm>
            <a:off x="8659368" y="4800600"/>
            <a:ext cx="50292" cy="786384"/>
          </a:xfrm>
          <a:prstGeom prst="rect">
            <a:avLst/>
          </a:prstGeom>
          <a:solidFill>
            <a:srgbClr val="A77722"/>
          </a:solidFill>
          <a:ln>
            <a:noFill/>
          </a:ln>
        </p:spPr>
        <p:txBody>
          <a:bodyPr rtlCol="0" anchor="ctr"/>
          <a:lstStyle/>
          <a:p>
            <a:pPr algn="ctr"/>
          </a:p>
        </p:txBody>
      </p:sp>
      <p:sp>
        <p:nvSpPr>
          <p:cNvPr id="55" name="TextBox 54"/>
          <p:cNvSpPr txBox="1"/>
          <p:nvPr/>
        </p:nvSpPr>
        <p:spPr>
          <a:xfrm>
            <a:off x="8842248" y="4919472"/>
            <a:ext cx="1655064"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700" b="1">
                <a:solidFill>
                  <a:srgbClr val="2F2D29"/>
                </a:solidFill>
                <a:latin typeface="Arimo"/>
              </a:rPr>
              <a:t>Health content</a:t>
            </a:r>
          </a:p>
        </p:txBody>
      </p:sp>
      <p:sp>
        <p:nvSpPr>
          <p:cNvPr id="56" name="TextBox 55"/>
          <p:cNvSpPr txBox="1"/>
          <p:nvPr/>
        </p:nvSpPr>
        <p:spPr>
          <a:xfrm>
            <a:off x="8842248" y="5312664"/>
            <a:ext cx="1673351" cy="182879"/>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Source-linked JSON</a:t>
            </a:r>
          </a:p>
        </p:txBody>
      </p:sp>
      <p:cxnSp>
        <p:nvCxnSpPr>
          <p:cNvPr id="57" name="Connector 56"/>
          <p:cNvCxnSpPr/>
          <p:nvPr/>
        </p:nvCxnSpPr>
        <p:spPr>
          <a:xfrm>
            <a:off x="9646920" y="4270248"/>
            <a:ext cx="0" cy="484632"/>
          </a:xfrm>
          <a:prstGeom prst="line">
            <a:avLst/>
          </a:prstGeom>
          <a:ln w="21590">
            <a:solidFill>
              <a:srgbClr val="A77722"/>
            </a:solidFill>
            <a:prstDash val="dash"/>
            <a:tailEnd type="triangle" w="sm" len="sm"/>
          </a:ln>
        </p:spPr>
      </p:cxnSp>
      <p:sp>
        <p:nvSpPr>
          <p:cNvPr id="58" name="Rounded Rectangle 57"/>
          <p:cNvSpPr/>
          <p:nvPr/>
        </p:nvSpPr>
        <p:spPr>
          <a:xfrm>
            <a:off x="11384280" y="2249424"/>
            <a:ext cx="2578608" cy="786384"/>
          </a:xfrm>
          <a:prstGeom prst="roundRect">
            <a:avLst/>
          </a:prstGeom>
          <a:solidFill>
            <a:srgbClr val="FAF3E5"/>
          </a:solidFill>
          <a:ln w="9525">
            <a:solidFill>
              <a:srgbClr val="A77722"/>
            </a:solidFill>
          </a:ln>
          <a:effectLst>
            <a:outerShdw blurRad="30000" dist="18000" dir="2700000" algn="ctr" rotWithShape="0">
              <a:srgbClr val="2F2D29">
                <a:alpha val="12000"/>
              </a:srgbClr>
            </a:outerShdw>
          </a:effectLst>
        </p:spPr>
        <p:txBody>
          <a:bodyPr rtlCol="0" anchor="ctr"/>
          <a:lstStyle/>
          <a:p>
            <a:pPr algn="ctr"/>
          </a:p>
        </p:txBody>
      </p:sp>
      <p:sp>
        <p:nvSpPr>
          <p:cNvPr id="59" name="Rectangle 58"/>
          <p:cNvSpPr/>
          <p:nvPr/>
        </p:nvSpPr>
        <p:spPr>
          <a:xfrm>
            <a:off x="11384280" y="2249424"/>
            <a:ext cx="50292" cy="786384"/>
          </a:xfrm>
          <a:prstGeom prst="rect">
            <a:avLst/>
          </a:prstGeom>
          <a:solidFill>
            <a:srgbClr val="A77722"/>
          </a:solidFill>
          <a:ln>
            <a:noFill/>
          </a:ln>
        </p:spPr>
        <p:txBody>
          <a:bodyPr rtlCol="0" anchor="ctr"/>
          <a:lstStyle/>
          <a:p>
            <a:pPr algn="ctr"/>
          </a:p>
        </p:txBody>
      </p:sp>
      <p:sp>
        <p:nvSpPr>
          <p:cNvPr id="60" name="TextBox 59"/>
          <p:cNvSpPr txBox="1"/>
          <p:nvPr/>
        </p:nvSpPr>
        <p:spPr>
          <a:xfrm>
            <a:off x="11567159" y="2368296"/>
            <a:ext cx="2249424"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External model</a:t>
            </a:r>
          </a:p>
        </p:txBody>
      </p:sp>
      <p:sp>
        <p:nvSpPr>
          <p:cNvPr id="61" name="TextBox 60"/>
          <p:cNvSpPr txBox="1"/>
          <p:nvPr/>
        </p:nvSpPr>
        <p:spPr>
          <a:xfrm>
            <a:off x="11567159" y="2761488"/>
            <a:ext cx="2267712" cy="182879"/>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OpenAI-compatible endpoint</a:t>
            </a:r>
          </a:p>
        </p:txBody>
      </p:sp>
      <p:cxnSp>
        <p:nvCxnSpPr>
          <p:cNvPr id="62" name="Connector 61"/>
          <p:cNvCxnSpPr/>
          <p:nvPr/>
        </p:nvCxnSpPr>
        <p:spPr>
          <a:xfrm>
            <a:off x="10661904" y="2633472"/>
            <a:ext cx="676656" cy="0"/>
          </a:xfrm>
          <a:prstGeom prst="line">
            <a:avLst/>
          </a:prstGeom>
          <a:ln w="21590">
            <a:solidFill>
              <a:srgbClr val="A77722"/>
            </a:solidFill>
            <a:prstDash val="dash"/>
            <a:tailEnd type="triangle" w="sm" len="sm"/>
            <a:headEnd type="triangle" w="sm" len="sm"/>
          </a:ln>
        </p:spPr>
      </p:cxnSp>
      <p:sp>
        <p:nvSpPr>
          <p:cNvPr id="63" name="TextBox 62"/>
          <p:cNvSpPr txBox="1"/>
          <p:nvPr/>
        </p:nvSpPr>
        <p:spPr>
          <a:xfrm>
            <a:off x="11375136" y="3236976"/>
            <a:ext cx="2514600" cy="6400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A77722"/>
                </a:solidFill>
                <a:latin typeface="Arimo"/>
              </a:rPr>
              <a:t>Context + tool results out</a:t>
            </a:r>
          </a:p>
          <a:p>
            <a:pPr algn="l">
              <a:lnSpc>
                <a:spcPct val="108000"/>
              </a:lnSpc>
              <a:spcBef>
                <a:spcPts val="0"/>
              </a:spcBef>
              <a:spcAft>
                <a:spcPts val="200"/>
              </a:spcAft>
            </a:pPr>
            <a:r>
              <a:rPr sz="1300" b="0">
                <a:solidFill>
                  <a:srgbClr val="A77722"/>
                </a:solidFill>
                <a:latin typeface="Arimo"/>
              </a:rPr>
              <a:t>Prose + tool requests in</a:t>
            </a:r>
          </a:p>
        </p:txBody>
      </p:sp>
      <p:sp>
        <p:nvSpPr>
          <p:cNvPr id="64" name="Rounded Rectangle 63"/>
          <p:cNvSpPr/>
          <p:nvPr/>
        </p:nvSpPr>
        <p:spPr>
          <a:xfrm>
            <a:off x="685800" y="6967728"/>
            <a:ext cx="13258800" cy="448056"/>
          </a:xfrm>
          <a:prstGeom prst="roundRect">
            <a:avLst/>
          </a:prstGeom>
          <a:solidFill>
            <a:srgbClr val="EAF7F5"/>
          </a:solidFill>
          <a:ln>
            <a:noFill/>
          </a:ln>
        </p:spPr>
        <p:txBody>
          <a:bodyPr rtlCol="0" anchor="ctr"/>
          <a:lstStyle/>
          <a:p>
            <a:pPr algn="ctr"/>
          </a:p>
        </p:txBody>
      </p:sp>
      <p:sp>
        <p:nvSpPr>
          <p:cNvPr id="65" name="Rectangle 64"/>
          <p:cNvSpPr/>
          <p:nvPr/>
        </p:nvSpPr>
        <p:spPr>
          <a:xfrm>
            <a:off x="850392" y="7123176"/>
            <a:ext cx="82296" cy="137160"/>
          </a:xfrm>
          <a:prstGeom prst="rect">
            <a:avLst/>
          </a:prstGeom>
          <a:solidFill>
            <a:srgbClr val="138F98"/>
          </a:solidFill>
          <a:ln>
            <a:noFill/>
          </a:ln>
        </p:spPr>
        <p:txBody>
          <a:bodyPr rtlCol="0" anchor="ctr"/>
          <a:lstStyle/>
          <a:p>
            <a:pPr algn="ctr"/>
          </a:p>
        </p:txBody>
      </p:sp>
      <p:sp>
        <p:nvSpPr>
          <p:cNvPr id="66" name="TextBox 65"/>
          <p:cNvSpPr txBox="1"/>
          <p:nvPr/>
        </p:nvSpPr>
        <p:spPr>
          <a:xfrm>
            <a:off x="1060704" y="7050024"/>
            <a:ext cx="12618720" cy="28346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138F98"/>
                </a:solidFill>
                <a:latin typeface="Arimo"/>
              </a:rPr>
              <a:t>Safety can return early  •  Forms use server validation  •  Model availability never owns storage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2_background.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658368" y="246888"/>
            <a:ext cx="256032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1">
                <a:solidFill>
                  <a:srgbClr val="6B6861"/>
                </a:solidFill>
                <a:latin typeface="Arimo"/>
              </a:rPr>
              <a:t>CARESteps  /  ARCHITECTURE</a:t>
            </a:r>
          </a:p>
        </p:txBody>
      </p:sp>
      <p:sp>
        <p:nvSpPr>
          <p:cNvPr id="4" name="Rectangle 3"/>
          <p:cNvSpPr/>
          <p:nvPr/>
        </p:nvSpPr>
        <p:spPr>
          <a:xfrm>
            <a:off x="2331720" y="347472"/>
            <a:ext cx="9464040" cy="10972"/>
          </a:xfrm>
          <a:prstGeom prst="rect">
            <a:avLst/>
          </a:prstGeom>
          <a:solidFill>
            <a:srgbClr val="CBD4D9"/>
          </a:solidFill>
          <a:ln>
            <a:noFill/>
          </a:ln>
        </p:spPr>
        <p:txBody>
          <a:bodyPr rtlCol="0" anchor="ctr"/>
          <a:lstStyle/>
          <a:p>
            <a:pPr algn="ctr"/>
          </a:p>
        </p:txBody>
      </p:sp>
      <p:sp>
        <p:nvSpPr>
          <p:cNvPr id="5" name="TextBox 4"/>
          <p:cNvSpPr txBox="1"/>
          <p:nvPr/>
        </p:nvSpPr>
        <p:spPr>
          <a:xfrm>
            <a:off x="12435840" y="246888"/>
            <a:ext cx="1508760" cy="201168"/>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900" b="0">
                <a:solidFill>
                  <a:srgbClr val="6B6861"/>
                </a:solidFill>
                <a:latin typeface="Arimo"/>
              </a:rPr>
              <a:t>16 OCT 2026</a:t>
            </a:r>
          </a:p>
        </p:txBody>
      </p:sp>
      <p:sp>
        <p:nvSpPr>
          <p:cNvPr id="6" name="TextBox 5"/>
          <p:cNvSpPr txBox="1"/>
          <p:nvPr/>
        </p:nvSpPr>
        <p:spPr>
          <a:xfrm>
            <a:off x="658368" y="612648"/>
            <a:ext cx="13121640" cy="50292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100" b="1">
                <a:solidFill>
                  <a:srgbClr val="2F2D29"/>
                </a:solidFill>
                <a:latin typeface="Arimo"/>
              </a:rPr>
              <a:t>Trust Boundaries</a:t>
            </a:r>
          </a:p>
        </p:txBody>
      </p:sp>
      <p:sp>
        <p:nvSpPr>
          <p:cNvPr id="7" name="TextBox 6"/>
          <p:cNvSpPr txBox="1"/>
          <p:nvPr/>
        </p:nvSpPr>
        <p:spPr>
          <a:xfrm>
            <a:off x="685800" y="1161288"/>
            <a:ext cx="1271016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50" b="0">
                <a:solidFill>
                  <a:srgbClr val="6B6861"/>
                </a:solidFill>
                <a:latin typeface="Arimo"/>
              </a:rPr>
              <a:t>Every model request is re-validated; browser, model and imported content have limited authority.</a:t>
            </a:r>
          </a:p>
        </p:txBody>
      </p:sp>
      <p:sp>
        <p:nvSpPr>
          <p:cNvPr id="8" name="Rectangle 7"/>
          <p:cNvSpPr/>
          <p:nvPr/>
        </p:nvSpPr>
        <p:spPr>
          <a:xfrm>
            <a:off x="685800" y="7626096"/>
            <a:ext cx="13258800" cy="10972"/>
          </a:xfrm>
          <a:prstGeom prst="rect">
            <a:avLst/>
          </a:prstGeom>
          <a:solidFill>
            <a:srgbClr val="CBD4D9"/>
          </a:solidFill>
          <a:ln>
            <a:noFill/>
          </a:ln>
        </p:spPr>
        <p:txBody>
          <a:bodyPr rtlCol="0" anchor="ctr"/>
          <a:lstStyle/>
          <a:p>
            <a:pPr algn="ctr"/>
          </a:p>
        </p:txBody>
      </p:sp>
      <p:sp>
        <p:nvSpPr>
          <p:cNvPr id="9" name="TextBox 8"/>
          <p:cNvSpPr txBox="1"/>
          <p:nvPr/>
        </p:nvSpPr>
        <p:spPr>
          <a:xfrm>
            <a:off x="685800" y="7754112"/>
            <a:ext cx="24688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CareSteps  |  Healthcare Challenge 2</a:t>
            </a:r>
          </a:p>
        </p:txBody>
      </p:sp>
      <p:sp>
        <p:nvSpPr>
          <p:cNvPr id="10" name="TextBox 9"/>
          <p:cNvSpPr txBox="1"/>
          <p:nvPr/>
        </p:nvSpPr>
        <p:spPr>
          <a:xfrm>
            <a:off x="3291840" y="7754112"/>
            <a:ext cx="88696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app/routes/deps.py | app/tools/handlers.py | app/content_loader.py | app/db.py</a:t>
            </a:r>
          </a:p>
        </p:txBody>
      </p:sp>
      <p:sp>
        <p:nvSpPr>
          <p:cNvPr id="11" name="TextBox 10"/>
          <p:cNvSpPr txBox="1"/>
          <p:nvPr/>
        </p:nvSpPr>
        <p:spPr>
          <a:xfrm>
            <a:off x="12966192" y="7726679"/>
            <a:ext cx="960120" cy="228600"/>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1000" b="0">
                <a:solidFill>
                  <a:srgbClr val="6B6861"/>
                </a:solidFill>
                <a:latin typeface="Arimo"/>
              </a:rPr>
              <a:t>03 / 09</a:t>
            </a:r>
          </a:p>
        </p:txBody>
      </p:sp>
      <p:sp>
        <p:nvSpPr>
          <p:cNvPr id="12" name="Rounded Rectangle 11"/>
          <p:cNvSpPr/>
          <p:nvPr/>
        </p:nvSpPr>
        <p:spPr>
          <a:xfrm>
            <a:off x="658368" y="1828800"/>
            <a:ext cx="3154680" cy="4526280"/>
          </a:xfrm>
          <a:prstGeom prst="roundRect">
            <a:avLst/>
          </a:prstGeom>
          <a:solidFill>
            <a:srgbClr val="FDF0EE"/>
          </a:solidFill>
          <a:ln w="9525">
            <a:solidFill>
              <a:srgbClr val="C74C48"/>
            </a:solidFill>
            <a:prstDash val="dash"/>
          </a:ln>
        </p:spPr>
        <p:txBody>
          <a:bodyPr rtlCol="0" anchor="ctr"/>
          <a:lstStyle/>
          <a:p>
            <a:pPr algn="ctr"/>
          </a:p>
        </p:txBody>
      </p:sp>
      <p:sp>
        <p:nvSpPr>
          <p:cNvPr id="13" name="TextBox 12"/>
          <p:cNvSpPr txBox="1"/>
          <p:nvPr/>
        </p:nvSpPr>
        <p:spPr>
          <a:xfrm>
            <a:off x="850392" y="2011680"/>
            <a:ext cx="2743200" cy="30175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C74C48"/>
                </a:solidFill>
                <a:latin typeface="Arimo"/>
              </a:rPr>
              <a:t>01  USER DEVICE</a:t>
            </a:r>
          </a:p>
        </p:txBody>
      </p:sp>
      <p:sp>
        <p:nvSpPr>
          <p:cNvPr id="14" name="Rounded Rectangle 13"/>
          <p:cNvSpPr/>
          <p:nvPr/>
        </p:nvSpPr>
        <p:spPr>
          <a:xfrm>
            <a:off x="868680" y="2779776"/>
            <a:ext cx="2724912" cy="1005840"/>
          </a:xfrm>
          <a:prstGeom prst="roundRect">
            <a:avLst/>
          </a:prstGeom>
          <a:solidFill>
            <a:srgbClr val="FFFFFF"/>
          </a:solidFill>
          <a:ln w="9525">
            <a:solidFill>
              <a:srgbClr val="C74C48"/>
            </a:solidFill>
          </a:ln>
          <a:effectLst>
            <a:outerShdw blurRad="30000" dist="18000" dir="2700000" algn="ctr" rotWithShape="0">
              <a:srgbClr val="2F2D29">
                <a:alpha val="12000"/>
              </a:srgbClr>
            </a:outerShdw>
          </a:effectLst>
        </p:spPr>
        <p:txBody>
          <a:bodyPr rtlCol="0" anchor="ctr"/>
          <a:lstStyle/>
          <a:p>
            <a:pPr algn="ctr"/>
          </a:p>
        </p:txBody>
      </p:sp>
      <p:sp>
        <p:nvSpPr>
          <p:cNvPr id="15" name="Rectangle 14"/>
          <p:cNvSpPr/>
          <p:nvPr/>
        </p:nvSpPr>
        <p:spPr>
          <a:xfrm>
            <a:off x="868680" y="2779776"/>
            <a:ext cx="50292" cy="1005840"/>
          </a:xfrm>
          <a:prstGeom prst="rect">
            <a:avLst/>
          </a:prstGeom>
          <a:solidFill>
            <a:srgbClr val="C74C48"/>
          </a:solidFill>
          <a:ln>
            <a:noFill/>
          </a:ln>
        </p:spPr>
        <p:txBody>
          <a:bodyPr rtlCol="0" anchor="ctr"/>
          <a:lstStyle/>
          <a:p>
            <a:pPr algn="ctr"/>
          </a:p>
        </p:txBody>
      </p:sp>
      <p:sp>
        <p:nvSpPr>
          <p:cNvPr id="16" name="TextBox 15"/>
          <p:cNvSpPr txBox="1"/>
          <p:nvPr/>
        </p:nvSpPr>
        <p:spPr>
          <a:xfrm>
            <a:off x="1051560" y="2898648"/>
            <a:ext cx="2395728"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2000" b="1">
                <a:solidFill>
                  <a:srgbClr val="2F2D29"/>
                </a:solidFill>
                <a:latin typeface="Arimo"/>
              </a:rPr>
              <a:t>Browser</a:t>
            </a:r>
          </a:p>
        </p:txBody>
      </p:sp>
      <p:sp>
        <p:nvSpPr>
          <p:cNvPr id="17" name="TextBox 16"/>
          <p:cNvSpPr txBox="1"/>
          <p:nvPr/>
        </p:nvSpPr>
        <p:spPr>
          <a:xfrm>
            <a:off x="1051560" y="3291840"/>
            <a:ext cx="2414016" cy="40233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Untrusted forms + chat</a:t>
            </a:r>
          </a:p>
          <a:p>
            <a:pPr algn="l">
              <a:lnSpc>
                <a:spcPct val="108000"/>
              </a:lnSpc>
              <a:spcBef>
                <a:spcPts val="0"/>
              </a:spcBef>
              <a:spcAft>
                <a:spcPts val="200"/>
              </a:spcAft>
            </a:pPr>
            <a:r>
              <a:rPr sz="1400" b="0">
                <a:solidFill>
                  <a:srgbClr val="6B6861"/>
                </a:solidFill>
                <a:latin typeface="Arimo"/>
              </a:rPr>
              <a:t>Readable signed cookie</a:t>
            </a:r>
          </a:p>
        </p:txBody>
      </p:sp>
      <p:sp>
        <p:nvSpPr>
          <p:cNvPr id="18" name="Rounded Rectangle 17"/>
          <p:cNvSpPr/>
          <p:nvPr/>
        </p:nvSpPr>
        <p:spPr>
          <a:xfrm>
            <a:off x="4023360" y="1828800"/>
            <a:ext cx="3154680" cy="4526280"/>
          </a:xfrm>
          <a:prstGeom prst="roundRect">
            <a:avLst/>
          </a:prstGeom>
          <a:solidFill>
            <a:srgbClr val="EAF7F5"/>
          </a:solidFill>
          <a:ln w="9525">
            <a:solidFill>
              <a:srgbClr val="138F98"/>
            </a:solidFill>
            <a:prstDash val="dash"/>
          </a:ln>
        </p:spPr>
        <p:txBody>
          <a:bodyPr rtlCol="0" anchor="ctr"/>
          <a:lstStyle/>
          <a:p>
            <a:pPr algn="ctr"/>
          </a:p>
        </p:txBody>
      </p:sp>
      <p:sp>
        <p:nvSpPr>
          <p:cNvPr id="19" name="TextBox 18"/>
          <p:cNvSpPr txBox="1"/>
          <p:nvPr/>
        </p:nvSpPr>
        <p:spPr>
          <a:xfrm>
            <a:off x="4215384" y="2011680"/>
            <a:ext cx="2743200" cy="30175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138F98"/>
                </a:solidFill>
                <a:latin typeface="Arimo"/>
              </a:rPr>
              <a:t>02  TRUSTED APPLICATION</a:t>
            </a:r>
          </a:p>
        </p:txBody>
      </p:sp>
      <p:sp>
        <p:nvSpPr>
          <p:cNvPr id="20" name="Rounded Rectangle 19"/>
          <p:cNvSpPr/>
          <p:nvPr/>
        </p:nvSpPr>
        <p:spPr>
          <a:xfrm>
            <a:off x="4233672" y="2779776"/>
            <a:ext cx="2724912" cy="1005840"/>
          </a:xfrm>
          <a:prstGeom prst="roundRect">
            <a:avLst/>
          </a:prstGeom>
          <a:solidFill>
            <a:srgbClr val="FFFFFF"/>
          </a:solidFill>
          <a:ln w="9525">
            <a:solidFill>
              <a:srgbClr val="138F98"/>
            </a:solidFill>
          </a:ln>
          <a:effectLst>
            <a:outerShdw blurRad="30000" dist="18000" dir="2700000" algn="ctr" rotWithShape="0">
              <a:srgbClr val="2F2D29">
                <a:alpha val="12000"/>
              </a:srgbClr>
            </a:outerShdw>
          </a:effectLst>
        </p:spPr>
        <p:txBody>
          <a:bodyPr rtlCol="0" anchor="ctr"/>
          <a:lstStyle/>
          <a:p>
            <a:pPr algn="ctr"/>
          </a:p>
        </p:txBody>
      </p:sp>
      <p:sp>
        <p:nvSpPr>
          <p:cNvPr id="21" name="Rectangle 20"/>
          <p:cNvSpPr/>
          <p:nvPr/>
        </p:nvSpPr>
        <p:spPr>
          <a:xfrm>
            <a:off x="4233672" y="2779776"/>
            <a:ext cx="50292" cy="1005840"/>
          </a:xfrm>
          <a:prstGeom prst="rect">
            <a:avLst/>
          </a:prstGeom>
          <a:solidFill>
            <a:srgbClr val="138F98"/>
          </a:solidFill>
          <a:ln>
            <a:noFill/>
          </a:ln>
        </p:spPr>
        <p:txBody>
          <a:bodyPr rtlCol="0" anchor="ctr"/>
          <a:lstStyle/>
          <a:p>
            <a:pPr algn="ctr"/>
          </a:p>
        </p:txBody>
      </p:sp>
      <p:sp>
        <p:nvSpPr>
          <p:cNvPr id="22" name="TextBox 21"/>
          <p:cNvSpPr txBox="1"/>
          <p:nvPr/>
        </p:nvSpPr>
        <p:spPr>
          <a:xfrm>
            <a:off x="4416552" y="2898648"/>
            <a:ext cx="2395728"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2000" b="1">
                <a:solidFill>
                  <a:srgbClr val="2F2D29"/>
                </a:solidFill>
                <a:latin typeface="Arimo"/>
              </a:rPr>
              <a:t>Input + safety</a:t>
            </a:r>
          </a:p>
        </p:txBody>
      </p:sp>
      <p:sp>
        <p:nvSpPr>
          <p:cNvPr id="23" name="TextBox 22"/>
          <p:cNvSpPr txBox="1"/>
          <p:nvPr/>
        </p:nvSpPr>
        <p:spPr>
          <a:xfrm>
            <a:off x="4416552" y="3291840"/>
            <a:ext cx="2414016" cy="40233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Route, validate, decide</a:t>
            </a:r>
          </a:p>
          <a:p>
            <a:pPr algn="l">
              <a:lnSpc>
                <a:spcPct val="108000"/>
              </a:lnSpc>
              <a:spcBef>
                <a:spcPts val="0"/>
              </a:spcBef>
              <a:spcAft>
                <a:spcPts val="200"/>
              </a:spcAft>
            </a:pPr>
            <a:r>
              <a:rPr sz="1400" b="0">
                <a:solidFill>
                  <a:srgbClr val="6B6861"/>
                </a:solidFill>
                <a:latin typeface="Arimo"/>
              </a:rPr>
              <a:t>Scope user + session</a:t>
            </a:r>
          </a:p>
        </p:txBody>
      </p:sp>
      <p:sp>
        <p:nvSpPr>
          <p:cNvPr id="24" name="Rounded Rectangle 23"/>
          <p:cNvSpPr/>
          <p:nvPr/>
        </p:nvSpPr>
        <p:spPr>
          <a:xfrm>
            <a:off x="7406640" y="1828800"/>
            <a:ext cx="3154680" cy="4526280"/>
          </a:xfrm>
          <a:prstGeom prst="roundRect">
            <a:avLst/>
          </a:prstGeom>
          <a:solidFill>
            <a:srgbClr val="EEF5FB"/>
          </a:solidFill>
          <a:ln w="9525">
            <a:solidFill>
              <a:srgbClr val="0B61C9"/>
            </a:solidFill>
            <a:prstDash val="dash"/>
          </a:ln>
        </p:spPr>
        <p:txBody>
          <a:bodyPr rtlCol="0" anchor="ctr"/>
          <a:lstStyle/>
          <a:p>
            <a:pPr algn="ctr"/>
          </a:p>
        </p:txBody>
      </p:sp>
      <p:sp>
        <p:nvSpPr>
          <p:cNvPr id="25" name="TextBox 24"/>
          <p:cNvSpPr txBox="1"/>
          <p:nvPr/>
        </p:nvSpPr>
        <p:spPr>
          <a:xfrm>
            <a:off x="7598664" y="2011680"/>
            <a:ext cx="2743200" cy="30175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0B61C9"/>
                </a:solidFill>
                <a:latin typeface="Arimo"/>
              </a:rPr>
              <a:t>03  LOCAL STORAGE</a:t>
            </a:r>
          </a:p>
        </p:txBody>
      </p:sp>
      <p:sp>
        <p:nvSpPr>
          <p:cNvPr id="26" name="Rounded Rectangle 25"/>
          <p:cNvSpPr/>
          <p:nvPr/>
        </p:nvSpPr>
        <p:spPr>
          <a:xfrm>
            <a:off x="7616952" y="2779776"/>
            <a:ext cx="2724912" cy="1005840"/>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27" name="Rectangle 26"/>
          <p:cNvSpPr/>
          <p:nvPr/>
        </p:nvSpPr>
        <p:spPr>
          <a:xfrm>
            <a:off x="7616952" y="2779776"/>
            <a:ext cx="50292" cy="1005840"/>
          </a:xfrm>
          <a:prstGeom prst="rect">
            <a:avLst/>
          </a:prstGeom>
          <a:solidFill>
            <a:srgbClr val="0B61C9"/>
          </a:solidFill>
          <a:ln>
            <a:noFill/>
          </a:ln>
        </p:spPr>
        <p:txBody>
          <a:bodyPr rtlCol="0" anchor="ctr"/>
          <a:lstStyle/>
          <a:p>
            <a:pPr algn="ctr"/>
          </a:p>
        </p:txBody>
      </p:sp>
      <p:sp>
        <p:nvSpPr>
          <p:cNvPr id="28" name="TextBox 27"/>
          <p:cNvSpPr txBox="1"/>
          <p:nvPr/>
        </p:nvSpPr>
        <p:spPr>
          <a:xfrm>
            <a:off x="7799831" y="2898648"/>
            <a:ext cx="2395728"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2000" b="1">
                <a:solidFill>
                  <a:srgbClr val="2F2D29"/>
                </a:solidFill>
                <a:latin typeface="Arimo"/>
              </a:rPr>
              <a:t>SQLite + audit</a:t>
            </a:r>
          </a:p>
        </p:txBody>
      </p:sp>
      <p:sp>
        <p:nvSpPr>
          <p:cNvPr id="29" name="TextBox 28"/>
          <p:cNvSpPr txBox="1"/>
          <p:nvPr/>
        </p:nvSpPr>
        <p:spPr>
          <a:xfrm>
            <a:off x="7799831" y="3291840"/>
            <a:ext cx="2414016" cy="40233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Records, sources</a:t>
            </a:r>
          </a:p>
          <a:p>
            <a:pPr algn="l">
              <a:lnSpc>
                <a:spcPct val="108000"/>
              </a:lnSpc>
              <a:spcBef>
                <a:spcPts val="0"/>
              </a:spcBef>
              <a:spcAft>
                <a:spcPts val="200"/>
              </a:spcAft>
            </a:pPr>
            <a:r>
              <a:rPr sz="1400" b="0">
                <a:solidFill>
                  <a:srgbClr val="6B6861"/>
                </a:solidFill>
                <a:latin typeface="Arimo"/>
              </a:rPr>
              <a:t>Redacted audit trail</a:t>
            </a:r>
          </a:p>
        </p:txBody>
      </p:sp>
      <p:sp>
        <p:nvSpPr>
          <p:cNvPr id="30" name="Rounded Rectangle 29"/>
          <p:cNvSpPr/>
          <p:nvPr/>
        </p:nvSpPr>
        <p:spPr>
          <a:xfrm>
            <a:off x="10789920" y="1828800"/>
            <a:ext cx="3154680" cy="4526280"/>
          </a:xfrm>
          <a:prstGeom prst="roundRect">
            <a:avLst/>
          </a:prstGeom>
          <a:solidFill>
            <a:srgbClr val="FAF3E5"/>
          </a:solidFill>
          <a:ln w="9525">
            <a:solidFill>
              <a:srgbClr val="A77722"/>
            </a:solidFill>
            <a:prstDash val="dash"/>
          </a:ln>
        </p:spPr>
        <p:txBody>
          <a:bodyPr rtlCol="0" anchor="ctr"/>
          <a:lstStyle/>
          <a:p>
            <a:pPr algn="ctr"/>
          </a:p>
        </p:txBody>
      </p:sp>
      <p:sp>
        <p:nvSpPr>
          <p:cNvPr id="31" name="TextBox 30"/>
          <p:cNvSpPr txBox="1"/>
          <p:nvPr/>
        </p:nvSpPr>
        <p:spPr>
          <a:xfrm>
            <a:off x="10981944" y="2011680"/>
            <a:ext cx="2743200" cy="30175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A77722"/>
                </a:solidFill>
                <a:latin typeface="Arimo"/>
              </a:rPr>
              <a:t>04  EXTERNAL INPUTS</a:t>
            </a:r>
          </a:p>
        </p:txBody>
      </p:sp>
      <p:sp>
        <p:nvSpPr>
          <p:cNvPr id="32" name="Rounded Rectangle 31"/>
          <p:cNvSpPr/>
          <p:nvPr/>
        </p:nvSpPr>
        <p:spPr>
          <a:xfrm>
            <a:off x="11000232" y="2779776"/>
            <a:ext cx="2724912" cy="1005840"/>
          </a:xfrm>
          <a:prstGeom prst="roundRect">
            <a:avLst/>
          </a:prstGeom>
          <a:solidFill>
            <a:srgbClr val="FFFFFF"/>
          </a:solidFill>
          <a:ln w="9525">
            <a:solidFill>
              <a:srgbClr val="A77722"/>
            </a:solidFill>
          </a:ln>
          <a:effectLst>
            <a:outerShdw blurRad="30000" dist="18000" dir="2700000" algn="ctr" rotWithShape="0">
              <a:srgbClr val="2F2D29">
                <a:alpha val="12000"/>
              </a:srgbClr>
            </a:outerShdw>
          </a:effectLst>
        </p:spPr>
        <p:txBody>
          <a:bodyPr rtlCol="0" anchor="ctr"/>
          <a:lstStyle/>
          <a:p>
            <a:pPr algn="ctr"/>
          </a:p>
        </p:txBody>
      </p:sp>
      <p:sp>
        <p:nvSpPr>
          <p:cNvPr id="33" name="Rectangle 32"/>
          <p:cNvSpPr/>
          <p:nvPr/>
        </p:nvSpPr>
        <p:spPr>
          <a:xfrm>
            <a:off x="11000232" y="2779776"/>
            <a:ext cx="50292" cy="1005840"/>
          </a:xfrm>
          <a:prstGeom prst="rect">
            <a:avLst/>
          </a:prstGeom>
          <a:solidFill>
            <a:srgbClr val="A77722"/>
          </a:solidFill>
          <a:ln>
            <a:noFill/>
          </a:ln>
        </p:spPr>
        <p:txBody>
          <a:bodyPr rtlCol="0" anchor="ctr"/>
          <a:lstStyle/>
          <a:p>
            <a:pPr algn="ctr"/>
          </a:p>
        </p:txBody>
      </p:sp>
      <p:sp>
        <p:nvSpPr>
          <p:cNvPr id="34" name="TextBox 33"/>
          <p:cNvSpPr txBox="1"/>
          <p:nvPr/>
        </p:nvSpPr>
        <p:spPr>
          <a:xfrm>
            <a:off x="11183112" y="2898648"/>
            <a:ext cx="2395728"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2000" b="1">
                <a:solidFill>
                  <a:srgbClr val="2F2D29"/>
                </a:solidFill>
                <a:latin typeface="Arimo"/>
              </a:rPr>
              <a:t>Model + education</a:t>
            </a:r>
          </a:p>
        </p:txBody>
      </p:sp>
      <p:sp>
        <p:nvSpPr>
          <p:cNvPr id="35" name="TextBox 34"/>
          <p:cNvSpPr txBox="1"/>
          <p:nvPr/>
        </p:nvSpPr>
        <p:spPr>
          <a:xfrm>
            <a:off x="11183112" y="3291840"/>
            <a:ext cx="2414016" cy="40233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Minimal context out</a:t>
            </a:r>
          </a:p>
          <a:p>
            <a:pPr algn="l">
              <a:lnSpc>
                <a:spcPct val="108000"/>
              </a:lnSpc>
              <a:spcBef>
                <a:spcPts val="0"/>
              </a:spcBef>
              <a:spcAft>
                <a:spcPts val="200"/>
              </a:spcAft>
            </a:pPr>
            <a:r>
              <a:rPr sz="1400" b="0">
                <a:solidFill>
                  <a:srgbClr val="6B6861"/>
                </a:solidFill>
                <a:latin typeface="Arimo"/>
              </a:rPr>
              <a:t>Seed-time content checks</a:t>
            </a:r>
          </a:p>
        </p:txBody>
      </p:sp>
      <p:cxnSp>
        <p:nvCxnSpPr>
          <p:cNvPr id="36" name="Connector 35"/>
          <p:cNvCxnSpPr/>
          <p:nvPr/>
        </p:nvCxnSpPr>
        <p:spPr>
          <a:xfrm>
            <a:off x="3621024" y="3291840"/>
            <a:ext cx="347472" cy="0"/>
          </a:xfrm>
          <a:prstGeom prst="line">
            <a:avLst/>
          </a:prstGeom>
          <a:ln w="21590">
            <a:solidFill>
              <a:srgbClr val="C74C48"/>
            </a:solidFill>
            <a:tailEnd type="triangle" w="sm" len="sm"/>
          </a:ln>
        </p:spPr>
      </p:cxnSp>
      <p:cxnSp>
        <p:nvCxnSpPr>
          <p:cNvPr id="37" name="Connector 36"/>
          <p:cNvCxnSpPr/>
          <p:nvPr/>
        </p:nvCxnSpPr>
        <p:spPr>
          <a:xfrm>
            <a:off x="6986016" y="3291840"/>
            <a:ext cx="365759" cy="0"/>
          </a:xfrm>
          <a:prstGeom prst="line">
            <a:avLst/>
          </a:prstGeom>
          <a:ln w="21590">
            <a:solidFill>
              <a:srgbClr val="138F98"/>
            </a:solidFill>
            <a:tailEnd type="triangle" w="sm" len="sm"/>
          </a:ln>
        </p:spPr>
      </p:cxnSp>
      <p:cxnSp>
        <p:nvCxnSpPr>
          <p:cNvPr id="38" name="Connector 37"/>
          <p:cNvCxnSpPr/>
          <p:nvPr/>
        </p:nvCxnSpPr>
        <p:spPr>
          <a:xfrm>
            <a:off x="10369296" y="3291840"/>
            <a:ext cx="365760" cy="0"/>
          </a:xfrm>
          <a:prstGeom prst="line">
            <a:avLst/>
          </a:prstGeom>
          <a:ln w="21590">
            <a:solidFill>
              <a:srgbClr val="0B61C9"/>
            </a:solidFill>
            <a:prstDash val="dash"/>
            <a:tailEnd type="triangle" w="sm" len="sm"/>
          </a:ln>
        </p:spPr>
      </p:cxnSp>
      <p:sp>
        <p:nvSpPr>
          <p:cNvPr id="39" name="Rounded Rectangle 38"/>
          <p:cNvSpPr/>
          <p:nvPr/>
        </p:nvSpPr>
        <p:spPr>
          <a:xfrm>
            <a:off x="4242816" y="4297680"/>
            <a:ext cx="2724912" cy="420624"/>
          </a:xfrm>
          <a:prstGeom prst="roundRect">
            <a:avLst/>
          </a:prstGeom>
          <a:solidFill>
            <a:srgbClr val="FFFFFF"/>
          </a:solidFill>
          <a:ln w="9525">
            <a:solidFill>
              <a:srgbClr val="138F98"/>
            </a:solidFill>
          </a:ln>
        </p:spPr>
        <p:txBody>
          <a:bodyPr rtlCol="0" anchor="ctr"/>
          <a:lstStyle/>
          <a:p>
            <a:pPr algn="ctr"/>
          </a:p>
        </p:txBody>
      </p:sp>
      <p:sp>
        <p:nvSpPr>
          <p:cNvPr id="40" name="Rectangle 39"/>
          <p:cNvSpPr/>
          <p:nvPr/>
        </p:nvSpPr>
        <p:spPr>
          <a:xfrm>
            <a:off x="4352544" y="4462272"/>
            <a:ext cx="91440" cy="91440"/>
          </a:xfrm>
          <a:prstGeom prst="rect">
            <a:avLst/>
          </a:prstGeom>
          <a:solidFill>
            <a:srgbClr val="138F98"/>
          </a:solidFill>
          <a:ln>
            <a:noFill/>
          </a:ln>
        </p:spPr>
        <p:txBody>
          <a:bodyPr rtlCol="0" anchor="ctr"/>
          <a:lstStyle/>
          <a:p>
            <a:pPr algn="ctr"/>
          </a:p>
        </p:txBody>
      </p:sp>
      <p:sp>
        <p:nvSpPr>
          <p:cNvPr id="41" name="TextBox 40"/>
          <p:cNvSpPr txBox="1"/>
          <p:nvPr/>
        </p:nvSpPr>
        <p:spPr>
          <a:xfrm>
            <a:off x="4553712" y="4361688"/>
            <a:ext cx="2304288" cy="32918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Server owns user_id</a:t>
            </a:r>
          </a:p>
        </p:txBody>
      </p:sp>
      <p:sp>
        <p:nvSpPr>
          <p:cNvPr id="42" name="Rounded Rectangle 41"/>
          <p:cNvSpPr/>
          <p:nvPr/>
        </p:nvSpPr>
        <p:spPr>
          <a:xfrm>
            <a:off x="4242816" y="4846320"/>
            <a:ext cx="2724912" cy="420624"/>
          </a:xfrm>
          <a:prstGeom prst="roundRect">
            <a:avLst/>
          </a:prstGeom>
          <a:solidFill>
            <a:srgbClr val="FFFFFF"/>
          </a:solidFill>
          <a:ln w="9525">
            <a:solidFill>
              <a:srgbClr val="138F98"/>
            </a:solidFill>
          </a:ln>
        </p:spPr>
        <p:txBody>
          <a:bodyPr rtlCol="0" anchor="ctr"/>
          <a:lstStyle/>
          <a:p>
            <a:pPr algn="ctr"/>
          </a:p>
        </p:txBody>
      </p:sp>
      <p:sp>
        <p:nvSpPr>
          <p:cNvPr id="43" name="Rectangle 42"/>
          <p:cNvSpPr/>
          <p:nvPr/>
        </p:nvSpPr>
        <p:spPr>
          <a:xfrm>
            <a:off x="4352544" y="5010912"/>
            <a:ext cx="91440" cy="91440"/>
          </a:xfrm>
          <a:prstGeom prst="rect">
            <a:avLst/>
          </a:prstGeom>
          <a:solidFill>
            <a:srgbClr val="138F98"/>
          </a:solidFill>
          <a:ln>
            <a:noFill/>
          </a:ln>
        </p:spPr>
        <p:txBody>
          <a:bodyPr rtlCol="0" anchor="ctr"/>
          <a:lstStyle/>
          <a:p>
            <a:pPr algn="ctr"/>
          </a:p>
        </p:txBody>
      </p:sp>
      <p:sp>
        <p:nvSpPr>
          <p:cNvPr id="44" name="TextBox 43"/>
          <p:cNvSpPr txBox="1"/>
          <p:nvPr/>
        </p:nvSpPr>
        <p:spPr>
          <a:xfrm>
            <a:off x="4553712" y="4910328"/>
            <a:ext cx="2304288" cy="32918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Tools cannot issue SQL</a:t>
            </a:r>
          </a:p>
        </p:txBody>
      </p:sp>
      <p:sp>
        <p:nvSpPr>
          <p:cNvPr id="45" name="Rounded Rectangle 44"/>
          <p:cNvSpPr/>
          <p:nvPr/>
        </p:nvSpPr>
        <p:spPr>
          <a:xfrm>
            <a:off x="7626096" y="4297680"/>
            <a:ext cx="2724912" cy="420624"/>
          </a:xfrm>
          <a:prstGeom prst="roundRect">
            <a:avLst/>
          </a:prstGeom>
          <a:solidFill>
            <a:srgbClr val="FFFFFF"/>
          </a:solidFill>
          <a:ln w="9525">
            <a:solidFill>
              <a:srgbClr val="0B61C9"/>
            </a:solidFill>
          </a:ln>
        </p:spPr>
        <p:txBody>
          <a:bodyPr rtlCol="0" anchor="ctr"/>
          <a:lstStyle/>
          <a:p>
            <a:pPr algn="ctr"/>
          </a:p>
        </p:txBody>
      </p:sp>
      <p:sp>
        <p:nvSpPr>
          <p:cNvPr id="46" name="Rectangle 45"/>
          <p:cNvSpPr/>
          <p:nvPr/>
        </p:nvSpPr>
        <p:spPr>
          <a:xfrm>
            <a:off x="7735823" y="4462272"/>
            <a:ext cx="91440" cy="91440"/>
          </a:xfrm>
          <a:prstGeom prst="rect">
            <a:avLst/>
          </a:prstGeom>
          <a:solidFill>
            <a:srgbClr val="0B61C9"/>
          </a:solidFill>
          <a:ln>
            <a:noFill/>
          </a:ln>
        </p:spPr>
        <p:txBody>
          <a:bodyPr rtlCol="0" anchor="ctr"/>
          <a:lstStyle/>
          <a:p>
            <a:pPr algn="ctr"/>
          </a:p>
        </p:txBody>
      </p:sp>
      <p:sp>
        <p:nvSpPr>
          <p:cNvPr id="47" name="TextBox 46"/>
          <p:cNvSpPr txBox="1"/>
          <p:nvPr/>
        </p:nvSpPr>
        <p:spPr>
          <a:xfrm>
            <a:off x="7936992" y="4361688"/>
            <a:ext cx="2304288" cy="32918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No encryption at rest</a:t>
            </a:r>
          </a:p>
        </p:txBody>
      </p:sp>
      <p:sp>
        <p:nvSpPr>
          <p:cNvPr id="48" name="Rounded Rectangle 47"/>
          <p:cNvSpPr/>
          <p:nvPr/>
        </p:nvSpPr>
        <p:spPr>
          <a:xfrm>
            <a:off x="7626096" y="4846320"/>
            <a:ext cx="2724912" cy="420624"/>
          </a:xfrm>
          <a:prstGeom prst="roundRect">
            <a:avLst/>
          </a:prstGeom>
          <a:solidFill>
            <a:srgbClr val="FFFFFF"/>
          </a:solidFill>
          <a:ln w="9525">
            <a:solidFill>
              <a:srgbClr val="0B61C9"/>
            </a:solidFill>
          </a:ln>
        </p:spPr>
        <p:txBody>
          <a:bodyPr rtlCol="0" anchor="ctr"/>
          <a:lstStyle/>
          <a:p>
            <a:pPr algn="ctr"/>
          </a:p>
        </p:txBody>
      </p:sp>
      <p:sp>
        <p:nvSpPr>
          <p:cNvPr id="49" name="Rectangle 48"/>
          <p:cNvSpPr/>
          <p:nvPr/>
        </p:nvSpPr>
        <p:spPr>
          <a:xfrm>
            <a:off x="7735823" y="5010912"/>
            <a:ext cx="91440" cy="91440"/>
          </a:xfrm>
          <a:prstGeom prst="rect">
            <a:avLst/>
          </a:prstGeom>
          <a:solidFill>
            <a:srgbClr val="0B61C9"/>
          </a:solidFill>
          <a:ln>
            <a:noFill/>
          </a:ln>
        </p:spPr>
        <p:txBody>
          <a:bodyPr rtlCol="0" anchor="ctr"/>
          <a:lstStyle/>
          <a:p>
            <a:pPr algn="ctr"/>
          </a:p>
        </p:txBody>
      </p:sp>
      <p:sp>
        <p:nvSpPr>
          <p:cNvPr id="50" name="TextBox 49"/>
          <p:cNvSpPr txBox="1"/>
          <p:nvPr/>
        </p:nvSpPr>
        <p:spPr>
          <a:xfrm>
            <a:off x="7936992" y="4910328"/>
            <a:ext cx="2304288" cy="32918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Corrections preserve history</a:t>
            </a:r>
          </a:p>
        </p:txBody>
      </p:sp>
      <p:sp>
        <p:nvSpPr>
          <p:cNvPr id="51" name="Rounded Rectangle 50"/>
          <p:cNvSpPr/>
          <p:nvPr/>
        </p:nvSpPr>
        <p:spPr>
          <a:xfrm>
            <a:off x="11009376" y="4297680"/>
            <a:ext cx="2724912" cy="420624"/>
          </a:xfrm>
          <a:prstGeom prst="roundRect">
            <a:avLst/>
          </a:prstGeom>
          <a:solidFill>
            <a:srgbClr val="FFFFFF"/>
          </a:solidFill>
          <a:ln w="9525">
            <a:solidFill>
              <a:srgbClr val="A77722"/>
            </a:solidFill>
          </a:ln>
        </p:spPr>
        <p:txBody>
          <a:bodyPr rtlCol="0" anchor="ctr"/>
          <a:lstStyle/>
          <a:p>
            <a:pPr algn="ctr"/>
          </a:p>
        </p:txBody>
      </p:sp>
      <p:sp>
        <p:nvSpPr>
          <p:cNvPr id="52" name="Rectangle 51"/>
          <p:cNvSpPr/>
          <p:nvPr/>
        </p:nvSpPr>
        <p:spPr>
          <a:xfrm>
            <a:off x="11119103" y="4462272"/>
            <a:ext cx="91440" cy="91440"/>
          </a:xfrm>
          <a:prstGeom prst="rect">
            <a:avLst/>
          </a:prstGeom>
          <a:solidFill>
            <a:srgbClr val="A77722"/>
          </a:solidFill>
          <a:ln>
            <a:noFill/>
          </a:ln>
        </p:spPr>
        <p:txBody>
          <a:bodyPr rtlCol="0" anchor="ctr"/>
          <a:lstStyle/>
          <a:p>
            <a:pPr algn="ctr"/>
          </a:p>
        </p:txBody>
      </p:sp>
      <p:sp>
        <p:nvSpPr>
          <p:cNvPr id="53" name="TextBox 52"/>
          <p:cNvSpPr txBox="1"/>
          <p:nvPr/>
        </p:nvSpPr>
        <p:spPr>
          <a:xfrm>
            <a:off x="11320272" y="4361688"/>
            <a:ext cx="2304288" cy="32918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Endpoint is optional</a:t>
            </a:r>
          </a:p>
        </p:txBody>
      </p:sp>
      <p:sp>
        <p:nvSpPr>
          <p:cNvPr id="54" name="Rounded Rectangle 53"/>
          <p:cNvSpPr/>
          <p:nvPr/>
        </p:nvSpPr>
        <p:spPr>
          <a:xfrm>
            <a:off x="11009376" y="4846320"/>
            <a:ext cx="2724912" cy="420624"/>
          </a:xfrm>
          <a:prstGeom prst="roundRect">
            <a:avLst/>
          </a:prstGeom>
          <a:solidFill>
            <a:srgbClr val="FFFFFF"/>
          </a:solidFill>
          <a:ln w="9525">
            <a:solidFill>
              <a:srgbClr val="A77722"/>
            </a:solidFill>
          </a:ln>
        </p:spPr>
        <p:txBody>
          <a:bodyPr rtlCol="0" anchor="ctr"/>
          <a:lstStyle/>
          <a:p>
            <a:pPr algn="ctr"/>
          </a:p>
        </p:txBody>
      </p:sp>
      <p:sp>
        <p:nvSpPr>
          <p:cNvPr id="55" name="Rectangle 54"/>
          <p:cNvSpPr/>
          <p:nvPr/>
        </p:nvSpPr>
        <p:spPr>
          <a:xfrm>
            <a:off x="11119103" y="5010912"/>
            <a:ext cx="91440" cy="91440"/>
          </a:xfrm>
          <a:prstGeom prst="rect">
            <a:avLst/>
          </a:prstGeom>
          <a:solidFill>
            <a:srgbClr val="A77722"/>
          </a:solidFill>
          <a:ln>
            <a:noFill/>
          </a:ln>
        </p:spPr>
        <p:txBody>
          <a:bodyPr rtlCol="0" anchor="ctr"/>
          <a:lstStyle/>
          <a:p>
            <a:pPr algn="ctr"/>
          </a:p>
        </p:txBody>
      </p:sp>
      <p:sp>
        <p:nvSpPr>
          <p:cNvPr id="56" name="TextBox 55"/>
          <p:cNvSpPr txBox="1"/>
          <p:nvPr/>
        </p:nvSpPr>
        <p:spPr>
          <a:xfrm>
            <a:off x="11320272" y="4910328"/>
            <a:ext cx="2304288" cy="32918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Content has source metadata</a:t>
            </a:r>
          </a:p>
        </p:txBody>
      </p:sp>
      <p:sp>
        <p:nvSpPr>
          <p:cNvPr id="57" name="Rounded Rectangle 56"/>
          <p:cNvSpPr/>
          <p:nvPr/>
        </p:nvSpPr>
        <p:spPr>
          <a:xfrm>
            <a:off x="685800" y="6967728"/>
            <a:ext cx="13258800" cy="448056"/>
          </a:xfrm>
          <a:prstGeom prst="roundRect">
            <a:avLst/>
          </a:prstGeom>
          <a:solidFill>
            <a:srgbClr val="FDF0EE"/>
          </a:solidFill>
          <a:ln>
            <a:noFill/>
          </a:ln>
        </p:spPr>
        <p:txBody>
          <a:bodyPr rtlCol="0" anchor="ctr"/>
          <a:lstStyle/>
          <a:p>
            <a:pPr algn="ctr"/>
          </a:p>
        </p:txBody>
      </p:sp>
      <p:sp>
        <p:nvSpPr>
          <p:cNvPr id="58" name="Rectangle 57"/>
          <p:cNvSpPr/>
          <p:nvPr/>
        </p:nvSpPr>
        <p:spPr>
          <a:xfrm>
            <a:off x="850392" y="7123176"/>
            <a:ext cx="82296" cy="137160"/>
          </a:xfrm>
          <a:prstGeom prst="rect">
            <a:avLst/>
          </a:prstGeom>
          <a:solidFill>
            <a:srgbClr val="C74C48"/>
          </a:solidFill>
          <a:ln>
            <a:noFill/>
          </a:ln>
        </p:spPr>
        <p:txBody>
          <a:bodyPr rtlCol="0" anchor="ctr"/>
          <a:lstStyle/>
          <a:p>
            <a:pPr algn="ctr"/>
          </a:p>
        </p:txBody>
      </p:sp>
      <p:sp>
        <p:nvSpPr>
          <p:cNvPr id="59" name="TextBox 58"/>
          <p:cNvSpPr txBox="1"/>
          <p:nvPr/>
        </p:nvSpPr>
        <p:spPr>
          <a:xfrm>
            <a:off x="1060704" y="7050024"/>
            <a:ext cx="12618720" cy="28346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C74C48"/>
                </a:solidFill>
                <a:latin typeface="Arimo"/>
              </a:rPr>
              <a:t>Prototype boundary: shared demo profile, local HTTP and readable cookie state still need production hardening.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2_background.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658368" y="246888"/>
            <a:ext cx="256032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1">
                <a:solidFill>
                  <a:srgbClr val="6B6861"/>
                </a:solidFill>
                <a:latin typeface="Arimo"/>
              </a:rPr>
              <a:t>CARESteps  /  ARCHITECTURE</a:t>
            </a:r>
          </a:p>
        </p:txBody>
      </p:sp>
      <p:sp>
        <p:nvSpPr>
          <p:cNvPr id="4" name="Rectangle 3"/>
          <p:cNvSpPr/>
          <p:nvPr/>
        </p:nvSpPr>
        <p:spPr>
          <a:xfrm>
            <a:off x="2331720" y="347472"/>
            <a:ext cx="9464040" cy="10972"/>
          </a:xfrm>
          <a:prstGeom prst="rect">
            <a:avLst/>
          </a:prstGeom>
          <a:solidFill>
            <a:srgbClr val="CBD4D9"/>
          </a:solidFill>
          <a:ln>
            <a:noFill/>
          </a:ln>
        </p:spPr>
        <p:txBody>
          <a:bodyPr rtlCol="0" anchor="ctr"/>
          <a:lstStyle/>
          <a:p>
            <a:pPr algn="ctr"/>
          </a:p>
        </p:txBody>
      </p:sp>
      <p:sp>
        <p:nvSpPr>
          <p:cNvPr id="5" name="TextBox 4"/>
          <p:cNvSpPr txBox="1"/>
          <p:nvPr/>
        </p:nvSpPr>
        <p:spPr>
          <a:xfrm>
            <a:off x="12435840" y="246888"/>
            <a:ext cx="1508760" cy="201168"/>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900" b="0">
                <a:solidFill>
                  <a:srgbClr val="6B6861"/>
                </a:solidFill>
                <a:latin typeface="Arimo"/>
              </a:rPr>
              <a:t>16 OCT 2026</a:t>
            </a:r>
          </a:p>
        </p:txBody>
      </p:sp>
      <p:sp>
        <p:nvSpPr>
          <p:cNvPr id="6" name="TextBox 5"/>
          <p:cNvSpPr txBox="1"/>
          <p:nvPr/>
        </p:nvSpPr>
        <p:spPr>
          <a:xfrm>
            <a:off x="658368" y="612648"/>
            <a:ext cx="13121640" cy="50292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100" b="1">
                <a:solidFill>
                  <a:srgbClr val="2F2D29"/>
                </a:solidFill>
                <a:latin typeface="Arimo"/>
              </a:rPr>
              <a:t>Safety Gates Run Before the Model</a:t>
            </a:r>
          </a:p>
        </p:txBody>
      </p:sp>
      <p:sp>
        <p:nvSpPr>
          <p:cNvPr id="7" name="TextBox 6"/>
          <p:cNvSpPr txBox="1"/>
          <p:nvPr/>
        </p:nvSpPr>
        <p:spPr>
          <a:xfrm>
            <a:off x="685800" y="1161288"/>
            <a:ext cx="1271016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50" b="0">
                <a:solidFill>
                  <a:srgbClr val="6B6861"/>
                </a:solidFill>
                <a:latin typeface="Arimo"/>
              </a:rPr>
              <a:t>The first decisive verdict ends the turn; model instructions cannot bypass this ordering.</a:t>
            </a:r>
          </a:p>
        </p:txBody>
      </p:sp>
      <p:sp>
        <p:nvSpPr>
          <p:cNvPr id="8" name="Rectangle 7"/>
          <p:cNvSpPr/>
          <p:nvPr/>
        </p:nvSpPr>
        <p:spPr>
          <a:xfrm>
            <a:off x="685800" y="7626096"/>
            <a:ext cx="13258800" cy="10972"/>
          </a:xfrm>
          <a:prstGeom prst="rect">
            <a:avLst/>
          </a:prstGeom>
          <a:solidFill>
            <a:srgbClr val="CBD4D9"/>
          </a:solidFill>
          <a:ln>
            <a:noFill/>
          </a:ln>
        </p:spPr>
        <p:txBody>
          <a:bodyPr rtlCol="0" anchor="ctr"/>
          <a:lstStyle/>
          <a:p>
            <a:pPr algn="ctr"/>
          </a:p>
        </p:txBody>
      </p:sp>
      <p:sp>
        <p:nvSpPr>
          <p:cNvPr id="9" name="TextBox 8"/>
          <p:cNvSpPr txBox="1"/>
          <p:nvPr/>
        </p:nvSpPr>
        <p:spPr>
          <a:xfrm>
            <a:off x="685800" y="7754112"/>
            <a:ext cx="24688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CareSteps  |  Healthcare Challenge 2</a:t>
            </a:r>
          </a:p>
        </p:txBody>
      </p:sp>
      <p:sp>
        <p:nvSpPr>
          <p:cNvPr id="10" name="TextBox 9"/>
          <p:cNvSpPr txBox="1"/>
          <p:nvPr/>
        </p:nvSpPr>
        <p:spPr>
          <a:xfrm>
            <a:off x="3291840" y="7754112"/>
            <a:ext cx="88696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app/safety/__init__.py: route | app/llm/orchestrator.py: run_turn</a:t>
            </a:r>
          </a:p>
        </p:txBody>
      </p:sp>
      <p:sp>
        <p:nvSpPr>
          <p:cNvPr id="11" name="TextBox 10"/>
          <p:cNvSpPr txBox="1"/>
          <p:nvPr/>
        </p:nvSpPr>
        <p:spPr>
          <a:xfrm>
            <a:off x="12966192" y="7726679"/>
            <a:ext cx="960120" cy="228600"/>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1000" b="0">
                <a:solidFill>
                  <a:srgbClr val="6B6861"/>
                </a:solidFill>
                <a:latin typeface="Arimo"/>
              </a:rPr>
              <a:t>04 / 09</a:t>
            </a:r>
          </a:p>
        </p:txBody>
      </p:sp>
      <p:sp>
        <p:nvSpPr>
          <p:cNvPr id="12" name="TextBox 11"/>
          <p:cNvSpPr txBox="1"/>
          <p:nvPr/>
        </p:nvSpPr>
        <p:spPr>
          <a:xfrm>
            <a:off x="694944" y="1719072"/>
            <a:ext cx="5303520"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0B61C9"/>
                </a:solidFill>
                <a:latin typeface="Arimo"/>
              </a:rPr>
              <a:t>FIXED ORDER  /  ONE MATCH CAN END THE TURN</a:t>
            </a:r>
          </a:p>
        </p:txBody>
      </p:sp>
      <p:sp>
        <p:nvSpPr>
          <p:cNvPr id="13" name="Rounded Rectangle 12"/>
          <p:cNvSpPr/>
          <p:nvPr/>
        </p:nvSpPr>
        <p:spPr>
          <a:xfrm>
            <a:off x="694944" y="2148840"/>
            <a:ext cx="4498848" cy="841248"/>
          </a:xfrm>
          <a:prstGeom prst="roundRect">
            <a:avLst/>
          </a:prstGeom>
          <a:solidFill>
            <a:srgbClr val="FDF0EE"/>
          </a:solidFill>
          <a:ln w="9525">
            <a:solidFill>
              <a:srgbClr val="C74C48"/>
            </a:solidFill>
          </a:ln>
          <a:effectLst>
            <a:outerShdw blurRad="30000" dist="18000" dir="2700000" algn="ctr" rotWithShape="0">
              <a:srgbClr val="2F2D29">
                <a:alpha val="12000"/>
              </a:srgbClr>
            </a:outerShdw>
          </a:effectLst>
        </p:spPr>
        <p:txBody>
          <a:bodyPr rtlCol="0" anchor="ctr"/>
          <a:lstStyle/>
          <a:p>
            <a:pPr algn="ctr"/>
          </a:p>
        </p:txBody>
      </p:sp>
      <p:sp>
        <p:nvSpPr>
          <p:cNvPr id="14" name="Rectangle 13"/>
          <p:cNvSpPr/>
          <p:nvPr/>
        </p:nvSpPr>
        <p:spPr>
          <a:xfrm>
            <a:off x="694944" y="2148840"/>
            <a:ext cx="50292" cy="841248"/>
          </a:xfrm>
          <a:prstGeom prst="rect">
            <a:avLst/>
          </a:prstGeom>
          <a:solidFill>
            <a:srgbClr val="C74C48"/>
          </a:solidFill>
          <a:ln>
            <a:noFill/>
          </a:ln>
        </p:spPr>
        <p:txBody>
          <a:bodyPr rtlCol="0" anchor="ctr"/>
          <a:lstStyle/>
          <a:p>
            <a:pPr algn="ctr"/>
          </a:p>
        </p:txBody>
      </p:sp>
      <p:sp>
        <p:nvSpPr>
          <p:cNvPr id="15" name="TextBox 14"/>
          <p:cNvSpPr txBox="1"/>
          <p:nvPr/>
        </p:nvSpPr>
        <p:spPr>
          <a:xfrm>
            <a:off x="877824" y="2267712"/>
            <a:ext cx="4169663"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1">
                <a:solidFill>
                  <a:srgbClr val="2F2D29"/>
                </a:solidFill>
                <a:latin typeface="Arimo"/>
              </a:rPr>
              <a:t>01  Red flags</a:t>
            </a:r>
          </a:p>
        </p:txBody>
      </p:sp>
      <p:sp>
        <p:nvSpPr>
          <p:cNvPr id="16" name="TextBox 15"/>
          <p:cNvSpPr txBox="1"/>
          <p:nvPr/>
        </p:nvSpPr>
        <p:spPr>
          <a:xfrm>
            <a:off x="877824" y="2660904"/>
            <a:ext cx="4187952"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Symptoms + reading context</a:t>
            </a:r>
          </a:p>
        </p:txBody>
      </p:sp>
      <p:cxnSp>
        <p:nvCxnSpPr>
          <p:cNvPr id="17" name="Connector 16"/>
          <p:cNvCxnSpPr/>
          <p:nvPr/>
        </p:nvCxnSpPr>
        <p:spPr>
          <a:xfrm>
            <a:off x="5257800" y="2569464"/>
            <a:ext cx="539496" cy="0"/>
          </a:xfrm>
          <a:prstGeom prst="line">
            <a:avLst/>
          </a:prstGeom>
          <a:ln w="21590">
            <a:solidFill>
              <a:srgbClr val="C74C48"/>
            </a:solidFill>
            <a:tailEnd type="triangle" w="sm" len="sm"/>
          </a:ln>
        </p:spPr>
      </p:cxnSp>
      <p:sp>
        <p:nvSpPr>
          <p:cNvPr id="18" name="TextBox 17"/>
          <p:cNvSpPr txBox="1"/>
          <p:nvPr/>
        </p:nvSpPr>
        <p:spPr>
          <a:xfrm>
            <a:off x="5303520" y="2258568"/>
            <a:ext cx="694944"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000" b="1">
                <a:solidFill>
                  <a:srgbClr val="C74C48"/>
                </a:solidFill>
                <a:latin typeface="Arimo"/>
              </a:rPr>
              <a:t>match</a:t>
            </a:r>
          </a:p>
        </p:txBody>
      </p:sp>
      <p:sp>
        <p:nvSpPr>
          <p:cNvPr id="19" name="Rounded Rectangle 18"/>
          <p:cNvSpPr/>
          <p:nvPr/>
        </p:nvSpPr>
        <p:spPr>
          <a:xfrm>
            <a:off x="5989320" y="2148840"/>
            <a:ext cx="3858768" cy="841248"/>
          </a:xfrm>
          <a:prstGeom prst="roundRect">
            <a:avLst/>
          </a:prstGeom>
          <a:solidFill>
            <a:srgbClr val="FFFFFF"/>
          </a:solidFill>
          <a:ln w="9525">
            <a:solidFill>
              <a:srgbClr val="C74C48"/>
            </a:solidFill>
          </a:ln>
          <a:effectLst>
            <a:outerShdw blurRad="30000" dist="18000" dir="2700000" algn="ctr" rotWithShape="0">
              <a:srgbClr val="2F2D29">
                <a:alpha val="12000"/>
              </a:srgbClr>
            </a:outerShdw>
          </a:effectLst>
        </p:spPr>
        <p:txBody>
          <a:bodyPr rtlCol="0" anchor="ctr"/>
          <a:lstStyle/>
          <a:p>
            <a:pPr algn="ctr"/>
          </a:p>
        </p:txBody>
      </p:sp>
      <p:sp>
        <p:nvSpPr>
          <p:cNvPr id="20" name="Rectangle 19"/>
          <p:cNvSpPr/>
          <p:nvPr/>
        </p:nvSpPr>
        <p:spPr>
          <a:xfrm>
            <a:off x="5989320" y="2148840"/>
            <a:ext cx="50292" cy="841248"/>
          </a:xfrm>
          <a:prstGeom prst="rect">
            <a:avLst/>
          </a:prstGeom>
          <a:solidFill>
            <a:srgbClr val="C74C48"/>
          </a:solidFill>
          <a:ln>
            <a:noFill/>
          </a:ln>
        </p:spPr>
        <p:txBody>
          <a:bodyPr rtlCol="0" anchor="ctr"/>
          <a:lstStyle/>
          <a:p>
            <a:pPr algn="ctr"/>
          </a:p>
        </p:txBody>
      </p:sp>
      <p:sp>
        <p:nvSpPr>
          <p:cNvPr id="21" name="TextBox 20"/>
          <p:cNvSpPr txBox="1"/>
          <p:nvPr/>
        </p:nvSpPr>
        <p:spPr>
          <a:xfrm>
            <a:off x="6172200" y="2267712"/>
            <a:ext cx="3529584"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1">
                <a:solidFill>
                  <a:srgbClr val="2F2D29"/>
                </a:solidFill>
                <a:latin typeface="Arimo"/>
              </a:rPr>
              <a:t>Emergency / urgent guidance</a:t>
            </a:r>
          </a:p>
        </p:txBody>
      </p:sp>
      <p:sp>
        <p:nvSpPr>
          <p:cNvPr id="22" name="TextBox 21"/>
          <p:cNvSpPr txBox="1"/>
          <p:nvPr/>
        </p:nvSpPr>
        <p:spPr>
          <a:xfrm>
            <a:off x="6172200" y="2660904"/>
            <a:ext cx="3547872"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Fixed response; no model call</a:t>
            </a:r>
          </a:p>
        </p:txBody>
      </p:sp>
      <p:cxnSp>
        <p:nvCxnSpPr>
          <p:cNvPr id="23" name="Connector 22"/>
          <p:cNvCxnSpPr/>
          <p:nvPr/>
        </p:nvCxnSpPr>
        <p:spPr>
          <a:xfrm>
            <a:off x="2926080" y="3017520"/>
            <a:ext cx="0" cy="320040"/>
          </a:xfrm>
          <a:prstGeom prst="line">
            <a:avLst/>
          </a:prstGeom>
          <a:ln w="21590">
            <a:solidFill>
              <a:srgbClr val="138F98"/>
            </a:solidFill>
            <a:tailEnd type="triangle" w="sm" len="sm"/>
          </a:ln>
        </p:spPr>
      </p:cxnSp>
      <p:sp>
        <p:nvSpPr>
          <p:cNvPr id="24" name="TextBox 23"/>
          <p:cNvSpPr txBox="1"/>
          <p:nvPr/>
        </p:nvSpPr>
        <p:spPr>
          <a:xfrm>
            <a:off x="3090672" y="3081528"/>
            <a:ext cx="822960" cy="16459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100" b="0">
                <a:solidFill>
                  <a:srgbClr val="138F98"/>
                </a:solidFill>
                <a:latin typeface="Arimo"/>
              </a:rPr>
              <a:t>otherwise</a:t>
            </a:r>
          </a:p>
        </p:txBody>
      </p:sp>
      <p:sp>
        <p:nvSpPr>
          <p:cNvPr id="25" name="Rounded Rectangle 24"/>
          <p:cNvSpPr/>
          <p:nvPr/>
        </p:nvSpPr>
        <p:spPr>
          <a:xfrm>
            <a:off x="694944" y="3447288"/>
            <a:ext cx="4498848" cy="841248"/>
          </a:xfrm>
          <a:prstGeom prst="roundRect">
            <a:avLst/>
          </a:prstGeom>
          <a:solidFill>
            <a:srgbClr val="FAF3E5"/>
          </a:solidFill>
          <a:ln w="9525">
            <a:solidFill>
              <a:srgbClr val="A77722"/>
            </a:solidFill>
          </a:ln>
          <a:effectLst>
            <a:outerShdw blurRad="30000" dist="18000" dir="2700000" algn="ctr" rotWithShape="0">
              <a:srgbClr val="2F2D29">
                <a:alpha val="12000"/>
              </a:srgbClr>
            </a:outerShdw>
          </a:effectLst>
        </p:spPr>
        <p:txBody>
          <a:bodyPr rtlCol="0" anchor="ctr"/>
          <a:lstStyle/>
          <a:p>
            <a:pPr algn="ctr"/>
          </a:p>
        </p:txBody>
      </p:sp>
      <p:sp>
        <p:nvSpPr>
          <p:cNvPr id="26" name="Rectangle 25"/>
          <p:cNvSpPr/>
          <p:nvPr/>
        </p:nvSpPr>
        <p:spPr>
          <a:xfrm>
            <a:off x="694944" y="3447288"/>
            <a:ext cx="50292" cy="841248"/>
          </a:xfrm>
          <a:prstGeom prst="rect">
            <a:avLst/>
          </a:prstGeom>
          <a:solidFill>
            <a:srgbClr val="A77722"/>
          </a:solidFill>
          <a:ln>
            <a:noFill/>
          </a:ln>
        </p:spPr>
        <p:txBody>
          <a:bodyPr rtlCol="0" anchor="ctr"/>
          <a:lstStyle/>
          <a:p>
            <a:pPr algn="ctr"/>
          </a:p>
        </p:txBody>
      </p:sp>
      <p:sp>
        <p:nvSpPr>
          <p:cNvPr id="27" name="TextBox 26"/>
          <p:cNvSpPr txBox="1"/>
          <p:nvPr/>
        </p:nvSpPr>
        <p:spPr>
          <a:xfrm>
            <a:off x="877824" y="3566160"/>
            <a:ext cx="4169663"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1">
                <a:solidFill>
                  <a:srgbClr val="2F2D29"/>
                </a:solidFill>
                <a:latin typeface="Arimo"/>
              </a:rPr>
              <a:t>02  Boundaries</a:t>
            </a:r>
          </a:p>
        </p:txBody>
      </p:sp>
      <p:sp>
        <p:nvSpPr>
          <p:cNvPr id="28" name="TextBox 27"/>
          <p:cNvSpPr txBox="1"/>
          <p:nvPr/>
        </p:nvSpPr>
        <p:spPr>
          <a:xfrm>
            <a:off x="877824" y="3959352"/>
            <a:ext cx="4187952"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Dose changes or unclear medicine</a:t>
            </a:r>
          </a:p>
        </p:txBody>
      </p:sp>
      <p:cxnSp>
        <p:nvCxnSpPr>
          <p:cNvPr id="29" name="Connector 28"/>
          <p:cNvCxnSpPr/>
          <p:nvPr/>
        </p:nvCxnSpPr>
        <p:spPr>
          <a:xfrm>
            <a:off x="5257800" y="3867912"/>
            <a:ext cx="539496" cy="0"/>
          </a:xfrm>
          <a:prstGeom prst="line">
            <a:avLst/>
          </a:prstGeom>
          <a:ln w="21590">
            <a:solidFill>
              <a:srgbClr val="A77722"/>
            </a:solidFill>
            <a:tailEnd type="triangle" w="sm" len="sm"/>
          </a:ln>
        </p:spPr>
      </p:cxnSp>
      <p:sp>
        <p:nvSpPr>
          <p:cNvPr id="30" name="TextBox 29"/>
          <p:cNvSpPr txBox="1"/>
          <p:nvPr/>
        </p:nvSpPr>
        <p:spPr>
          <a:xfrm>
            <a:off x="5303520" y="3557016"/>
            <a:ext cx="694944"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000" b="1">
                <a:solidFill>
                  <a:srgbClr val="A77722"/>
                </a:solidFill>
                <a:latin typeface="Arimo"/>
              </a:rPr>
              <a:t>match</a:t>
            </a:r>
          </a:p>
        </p:txBody>
      </p:sp>
      <p:sp>
        <p:nvSpPr>
          <p:cNvPr id="31" name="Rounded Rectangle 30"/>
          <p:cNvSpPr/>
          <p:nvPr/>
        </p:nvSpPr>
        <p:spPr>
          <a:xfrm>
            <a:off x="5989320" y="3447288"/>
            <a:ext cx="3858768" cy="841248"/>
          </a:xfrm>
          <a:prstGeom prst="roundRect">
            <a:avLst/>
          </a:prstGeom>
          <a:solidFill>
            <a:srgbClr val="FFFFFF"/>
          </a:solidFill>
          <a:ln w="9525">
            <a:solidFill>
              <a:srgbClr val="A77722"/>
            </a:solidFill>
          </a:ln>
          <a:effectLst>
            <a:outerShdw blurRad="30000" dist="18000" dir="2700000" algn="ctr" rotWithShape="0">
              <a:srgbClr val="2F2D29">
                <a:alpha val="12000"/>
              </a:srgbClr>
            </a:outerShdw>
          </a:effectLst>
        </p:spPr>
        <p:txBody>
          <a:bodyPr rtlCol="0" anchor="ctr"/>
          <a:lstStyle/>
          <a:p>
            <a:pPr algn="ctr"/>
          </a:p>
        </p:txBody>
      </p:sp>
      <p:sp>
        <p:nvSpPr>
          <p:cNvPr id="32" name="Rectangle 31"/>
          <p:cNvSpPr/>
          <p:nvPr/>
        </p:nvSpPr>
        <p:spPr>
          <a:xfrm>
            <a:off x="5989320" y="3447288"/>
            <a:ext cx="50292" cy="841248"/>
          </a:xfrm>
          <a:prstGeom prst="rect">
            <a:avLst/>
          </a:prstGeom>
          <a:solidFill>
            <a:srgbClr val="A77722"/>
          </a:solidFill>
          <a:ln>
            <a:noFill/>
          </a:ln>
        </p:spPr>
        <p:txBody>
          <a:bodyPr rtlCol="0" anchor="ctr"/>
          <a:lstStyle/>
          <a:p>
            <a:pPr algn="ctr"/>
          </a:p>
        </p:txBody>
      </p:sp>
      <p:sp>
        <p:nvSpPr>
          <p:cNvPr id="33" name="TextBox 32"/>
          <p:cNvSpPr txBox="1"/>
          <p:nvPr/>
        </p:nvSpPr>
        <p:spPr>
          <a:xfrm>
            <a:off x="6172200" y="3566160"/>
            <a:ext cx="3529584"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1">
                <a:solidFill>
                  <a:srgbClr val="2F2D29"/>
                </a:solidFill>
                <a:latin typeface="Arimo"/>
              </a:rPr>
              <a:t>Refuse + redirect</a:t>
            </a:r>
          </a:p>
        </p:txBody>
      </p:sp>
      <p:sp>
        <p:nvSpPr>
          <p:cNvPr id="34" name="TextBox 33"/>
          <p:cNvSpPr txBox="1"/>
          <p:nvPr/>
        </p:nvSpPr>
        <p:spPr>
          <a:xfrm>
            <a:off x="6172200" y="3959352"/>
            <a:ext cx="3547872"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Fixed response; no model call</a:t>
            </a:r>
          </a:p>
        </p:txBody>
      </p:sp>
      <p:cxnSp>
        <p:nvCxnSpPr>
          <p:cNvPr id="35" name="Connector 34"/>
          <p:cNvCxnSpPr/>
          <p:nvPr/>
        </p:nvCxnSpPr>
        <p:spPr>
          <a:xfrm>
            <a:off x="2926080" y="4315968"/>
            <a:ext cx="0" cy="320040"/>
          </a:xfrm>
          <a:prstGeom prst="line">
            <a:avLst/>
          </a:prstGeom>
          <a:ln w="21590">
            <a:solidFill>
              <a:srgbClr val="138F98"/>
            </a:solidFill>
            <a:tailEnd type="triangle" w="sm" len="sm"/>
          </a:ln>
        </p:spPr>
      </p:cxnSp>
      <p:sp>
        <p:nvSpPr>
          <p:cNvPr id="36" name="TextBox 35"/>
          <p:cNvSpPr txBox="1"/>
          <p:nvPr/>
        </p:nvSpPr>
        <p:spPr>
          <a:xfrm>
            <a:off x="3090672" y="4379976"/>
            <a:ext cx="822960" cy="16459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100" b="0">
                <a:solidFill>
                  <a:srgbClr val="138F98"/>
                </a:solidFill>
                <a:latin typeface="Arimo"/>
              </a:rPr>
              <a:t>otherwise</a:t>
            </a:r>
          </a:p>
        </p:txBody>
      </p:sp>
      <p:sp>
        <p:nvSpPr>
          <p:cNvPr id="37" name="Rounded Rectangle 36"/>
          <p:cNvSpPr/>
          <p:nvPr/>
        </p:nvSpPr>
        <p:spPr>
          <a:xfrm>
            <a:off x="694944" y="4745736"/>
            <a:ext cx="4498848" cy="841248"/>
          </a:xfrm>
          <a:prstGeom prst="roundRect">
            <a:avLst/>
          </a:prstGeom>
          <a:solidFill>
            <a:srgbClr val="EEF5FB"/>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38" name="Rectangle 37"/>
          <p:cNvSpPr/>
          <p:nvPr/>
        </p:nvSpPr>
        <p:spPr>
          <a:xfrm>
            <a:off x="694944" y="4745736"/>
            <a:ext cx="50292" cy="841248"/>
          </a:xfrm>
          <a:prstGeom prst="rect">
            <a:avLst/>
          </a:prstGeom>
          <a:solidFill>
            <a:srgbClr val="0B61C9"/>
          </a:solidFill>
          <a:ln>
            <a:noFill/>
          </a:ln>
        </p:spPr>
        <p:txBody>
          <a:bodyPr rtlCol="0" anchor="ctr"/>
          <a:lstStyle/>
          <a:p>
            <a:pPr algn="ctr"/>
          </a:p>
        </p:txBody>
      </p:sp>
      <p:sp>
        <p:nvSpPr>
          <p:cNvPr id="39" name="TextBox 38"/>
          <p:cNvSpPr txBox="1"/>
          <p:nvPr/>
        </p:nvSpPr>
        <p:spPr>
          <a:xfrm>
            <a:off x="877824" y="4864608"/>
            <a:ext cx="4169663"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1">
                <a:solidFill>
                  <a:srgbClr val="2F2D29"/>
                </a:solidFill>
                <a:latin typeface="Arimo"/>
              </a:rPr>
              <a:t>03  Clarification</a:t>
            </a:r>
          </a:p>
        </p:txBody>
      </p:sp>
      <p:sp>
        <p:nvSpPr>
          <p:cNvPr id="40" name="TextBox 39"/>
          <p:cNvSpPr txBox="1"/>
          <p:nvPr/>
        </p:nvSpPr>
        <p:spPr>
          <a:xfrm>
            <a:off x="877824" y="5257800"/>
            <a:ext cx="4187952"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Missing values or intent</a:t>
            </a:r>
          </a:p>
        </p:txBody>
      </p:sp>
      <p:cxnSp>
        <p:nvCxnSpPr>
          <p:cNvPr id="41" name="Connector 40"/>
          <p:cNvCxnSpPr/>
          <p:nvPr/>
        </p:nvCxnSpPr>
        <p:spPr>
          <a:xfrm>
            <a:off x="5257800" y="5166360"/>
            <a:ext cx="539496" cy="0"/>
          </a:xfrm>
          <a:prstGeom prst="line">
            <a:avLst/>
          </a:prstGeom>
          <a:ln w="21590">
            <a:solidFill>
              <a:srgbClr val="0B61C9"/>
            </a:solidFill>
            <a:tailEnd type="triangle" w="sm" len="sm"/>
          </a:ln>
        </p:spPr>
      </p:cxnSp>
      <p:sp>
        <p:nvSpPr>
          <p:cNvPr id="42" name="TextBox 41"/>
          <p:cNvSpPr txBox="1"/>
          <p:nvPr/>
        </p:nvSpPr>
        <p:spPr>
          <a:xfrm>
            <a:off x="5303520" y="4855464"/>
            <a:ext cx="694944"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000" b="1">
                <a:solidFill>
                  <a:srgbClr val="0B61C9"/>
                </a:solidFill>
                <a:latin typeface="Arimo"/>
              </a:rPr>
              <a:t>match</a:t>
            </a:r>
          </a:p>
        </p:txBody>
      </p:sp>
      <p:sp>
        <p:nvSpPr>
          <p:cNvPr id="43" name="Rounded Rectangle 42"/>
          <p:cNvSpPr/>
          <p:nvPr/>
        </p:nvSpPr>
        <p:spPr>
          <a:xfrm>
            <a:off x="5989320" y="4745736"/>
            <a:ext cx="3858768" cy="841248"/>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44" name="Rectangle 43"/>
          <p:cNvSpPr/>
          <p:nvPr/>
        </p:nvSpPr>
        <p:spPr>
          <a:xfrm>
            <a:off x="5989320" y="4745736"/>
            <a:ext cx="50292" cy="841248"/>
          </a:xfrm>
          <a:prstGeom prst="rect">
            <a:avLst/>
          </a:prstGeom>
          <a:solidFill>
            <a:srgbClr val="0B61C9"/>
          </a:solidFill>
          <a:ln>
            <a:noFill/>
          </a:ln>
        </p:spPr>
        <p:txBody>
          <a:bodyPr rtlCol="0" anchor="ctr"/>
          <a:lstStyle/>
          <a:p>
            <a:pPr algn="ctr"/>
          </a:p>
        </p:txBody>
      </p:sp>
      <p:sp>
        <p:nvSpPr>
          <p:cNvPr id="45" name="TextBox 44"/>
          <p:cNvSpPr txBox="1"/>
          <p:nvPr/>
        </p:nvSpPr>
        <p:spPr>
          <a:xfrm>
            <a:off x="6172200" y="4864608"/>
            <a:ext cx="3529584"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1">
                <a:solidFill>
                  <a:srgbClr val="2F2D29"/>
                </a:solidFill>
                <a:latin typeface="Arimo"/>
              </a:rPr>
              <a:t>Ask for details</a:t>
            </a:r>
          </a:p>
        </p:txBody>
      </p:sp>
      <p:sp>
        <p:nvSpPr>
          <p:cNvPr id="46" name="TextBox 45"/>
          <p:cNvSpPr txBox="1"/>
          <p:nvPr/>
        </p:nvSpPr>
        <p:spPr>
          <a:xfrm>
            <a:off x="6172200" y="5257800"/>
            <a:ext cx="3547872"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Fixed response; no model call</a:t>
            </a:r>
          </a:p>
        </p:txBody>
      </p:sp>
      <p:sp>
        <p:nvSpPr>
          <p:cNvPr id="47" name="Rounded Rectangle 46"/>
          <p:cNvSpPr/>
          <p:nvPr/>
        </p:nvSpPr>
        <p:spPr>
          <a:xfrm>
            <a:off x="10287000" y="2148840"/>
            <a:ext cx="3584448" cy="3438144"/>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48" name="TextBox 47"/>
          <p:cNvSpPr txBox="1"/>
          <p:nvPr/>
        </p:nvSpPr>
        <p:spPr>
          <a:xfrm>
            <a:off x="10533888" y="2395728"/>
            <a:ext cx="2999232" cy="29260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0B61C9"/>
                </a:solidFill>
                <a:latin typeface="Arimo"/>
              </a:rPr>
              <a:t>WHEN ALL THREE ALLOW</a:t>
            </a:r>
          </a:p>
        </p:txBody>
      </p:sp>
      <p:sp>
        <p:nvSpPr>
          <p:cNvPr id="49" name="TextBox 48"/>
          <p:cNvSpPr txBox="1"/>
          <p:nvPr/>
        </p:nvSpPr>
        <p:spPr>
          <a:xfrm>
            <a:off x="10533888" y="2962656"/>
            <a:ext cx="2962656" cy="11155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2000" b="0">
                <a:solidFill>
                  <a:srgbClr val="2F2D29"/>
                </a:solidFill>
                <a:latin typeface="Arimo"/>
              </a:rPr>
              <a:t>Continue to:</a:t>
            </a:r>
          </a:p>
          <a:p>
            <a:pPr algn="l">
              <a:lnSpc>
                <a:spcPct val="108000"/>
              </a:lnSpc>
              <a:spcBef>
                <a:spcPts val="0"/>
              </a:spcBef>
              <a:spcAft>
                <a:spcPts val="200"/>
              </a:spcAft>
            </a:pPr>
            <a:r>
              <a:rPr sz="2000" b="0">
                <a:solidFill>
                  <a:srgbClr val="2F2D29"/>
                </a:solidFill>
                <a:latin typeface="Arimo"/>
              </a:rPr>
              <a:t>• live model tools</a:t>
            </a:r>
          </a:p>
          <a:p>
            <a:pPr algn="l">
              <a:lnSpc>
                <a:spcPct val="108000"/>
              </a:lnSpc>
              <a:spcBef>
                <a:spcPts val="0"/>
              </a:spcBef>
              <a:spcAft>
                <a:spcPts val="200"/>
              </a:spcAft>
            </a:pPr>
            <a:r>
              <a:rPr sz="2000" b="0">
                <a:solidFill>
                  <a:srgbClr val="2F2D29"/>
                </a:solidFill>
                <a:latin typeface="Arimo"/>
              </a:rPr>
              <a:t>• rule-based degraded support</a:t>
            </a:r>
          </a:p>
        </p:txBody>
      </p:sp>
      <p:sp>
        <p:nvSpPr>
          <p:cNvPr id="50" name="TextBox 49"/>
          <p:cNvSpPr txBox="1"/>
          <p:nvPr/>
        </p:nvSpPr>
        <p:spPr>
          <a:xfrm>
            <a:off x="10533888" y="4517136"/>
            <a:ext cx="2944368" cy="6583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Priority is deterministic. Detection remains limited to authored rules.</a:t>
            </a:r>
          </a:p>
        </p:txBody>
      </p:sp>
      <p:sp>
        <p:nvSpPr>
          <p:cNvPr id="51" name="Rounded Rectangle 50"/>
          <p:cNvSpPr/>
          <p:nvPr/>
        </p:nvSpPr>
        <p:spPr>
          <a:xfrm>
            <a:off x="685800" y="6967728"/>
            <a:ext cx="13258800" cy="448056"/>
          </a:xfrm>
          <a:prstGeom prst="roundRect">
            <a:avLst/>
          </a:prstGeom>
          <a:solidFill>
            <a:srgbClr val="EAF7F5"/>
          </a:solidFill>
          <a:ln>
            <a:noFill/>
          </a:ln>
        </p:spPr>
        <p:txBody>
          <a:bodyPr rtlCol="0" anchor="ctr"/>
          <a:lstStyle/>
          <a:p>
            <a:pPr algn="ctr"/>
          </a:p>
        </p:txBody>
      </p:sp>
      <p:sp>
        <p:nvSpPr>
          <p:cNvPr id="52" name="Rectangle 51"/>
          <p:cNvSpPr/>
          <p:nvPr/>
        </p:nvSpPr>
        <p:spPr>
          <a:xfrm>
            <a:off x="850392" y="7123176"/>
            <a:ext cx="82296" cy="137160"/>
          </a:xfrm>
          <a:prstGeom prst="rect">
            <a:avLst/>
          </a:prstGeom>
          <a:solidFill>
            <a:srgbClr val="138F98"/>
          </a:solidFill>
          <a:ln>
            <a:noFill/>
          </a:ln>
        </p:spPr>
        <p:txBody>
          <a:bodyPr rtlCol="0" anchor="ctr"/>
          <a:lstStyle/>
          <a:p>
            <a:pPr algn="ctr"/>
          </a:p>
        </p:txBody>
      </p:sp>
      <p:sp>
        <p:nvSpPr>
          <p:cNvPr id="53" name="TextBox 52"/>
          <p:cNvSpPr txBox="1"/>
          <p:nvPr/>
        </p:nvSpPr>
        <p:spPr>
          <a:xfrm>
            <a:off x="1060704" y="7050024"/>
            <a:ext cx="12618720" cy="28346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138F98"/>
                </a:solidFill>
                <a:latin typeface="Arimo"/>
              </a:rPr>
              <a:t>Red flags  &gt;  boundaries  &gt;  clarification  |  Safety is evaluated before the orchestrator.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2_background.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658368" y="246888"/>
            <a:ext cx="256032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1">
                <a:solidFill>
                  <a:srgbClr val="6B6861"/>
                </a:solidFill>
                <a:latin typeface="Arimo"/>
              </a:rPr>
              <a:t>CARESteps  /  ARCHITECTURE</a:t>
            </a:r>
          </a:p>
        </p:txBody>
      </p:sp>
      <p:sp>
        <p:nvSpPr>
          <p:cNvPr id="4" name="Rectangle 3"/>
          <p:cNvSpPr/>
          <p:nvPr/>
        </p:nvSpPr>
        <p:spPr>
          <a:xfrm>
            <a:off x="2331720" y="347472"/>
            <a:ext cx="9464040" cy="10972"/>
          </a:xfrm>
          <a:prstGeom prst="rect">
            <a:avLst/>
          </a:prstGeom>
          <a:solidFill>
            <a:srgbClr val="CBD4D9"/>
          </a:solidFill>
          <a:ln>
            <a:noFill/>
          </a:ln>
        </p:spPr>
        <p:txBody>
          <a:bodyPr rtlCol="0" anchor="ctr"/>
          <a:lstStyle/>
          <a:p>
            <a:pPr algn="ctr"/>
          </a:p>
        </p:txBody>
      </p:sp>
      <p:sp>
        <p:nvSpPr>
          <p:cNvPr id="5" name="TextBox 4"/>
          <p:cNvSpPr txBox="1"/>
          <p:nvPr/>
        </p:nvSpPr>
        <p:spPr>
          <a:xfrm>
            <a:off x="12435840" y="246888"/>
            <a:ext cx="1508760" cy="201168"/>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900" b="0">
                <a:solidFill>
                  <a:srgbClr val="6B6861"/>
                </a:solidFill>
                <a:latin typeface="Arimo"/>
              </a:rPr>
              <a:t>16 OCT 2026</a:t>
            </a:r>
          </a:p>
        </p:txBody>
      </p:sp>
      <p:sp>
        <p:nvSpPr>
          <p:cNvPr id="6" name="TextBox 5"/>
          <p:cNvSpPr txBox="1"/>
          <p:nvPr/>
        </p:nvSpPr>
        <p:spPr>
          <a:xfrm>
            <a:off x="658368" y="612648"/>
            <a:ext cx="13121640" cy="50292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100" b="1">
                <a:solidFill>
                  <a:srgbClr val="2F2D29"/>
                </a:solidFill>
                <a:latin typeface="Arimo"/>
              </a:rPr>
              <a:t>Tool Calling &amp; Human Confirmation</a:t>
            </a:r>
          </a:p>
        </p:txBody>
      </p:sp>
      <p:sp>
        <p:nvSpPr>
          <p:cNvPr id="7" name="TextBox 6"/>
          <p:cNvSpPr txBox="1"/>
          <p:nvPr/>
        </p:nvSpPr>
        <p:spPr>
          <a:xfrm>
            <a:off x="685800" y="1161288"/>
            <a:ext cx="1271016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50" b="0">
                <a:solidFill>
                  <a:srgbClr val="6B6861"/>
                </a:solidFill>
                <a:latin typeface="Arimo"/>
              </a:rPr>
              <a:t>The server owns identity, argument checks and database operations; the model only requests named tools.</a:t>
            </a:r>
          </a:p>
        </p:txBody>
      </p:sp>
      <p:sp>
        <p:nvSpPr>
          <p:cNvPr id="8" name="Rectangle 7"/>
          <p:cNvSpPr/>
          <p:nvPr/>
        </p:nvSpPr>
        <p:spPr>
          <a:xfrm>
            <a:off x="685800" y="7626096"/>
            <a:ext cx="13258800" cy="10972"/>
          </a:xfrm>
          <a:prstGeom prst="rect">
            <a:avLst/>
          </a:prstGeom>
          <a:solidFill>
            <a:srgbClr val="CBD4D9"/>
          </a:solidFill>
          <a:ln>
            <a:noFill/>
          </a:ln>
        </p:spPr>
        <p:txBody>
          <a:bodyPr rtlCol="0" anchor="ctr"/>
          <a:lstStyle/>
          <a:p>
            <a:pPr algn="ctr"/>
          </a:p>
        </p:txBody>
      </p:sp>
      <p:sp>
        <p:nvSpPr>
          <p:cNvPr id="9" name="TextBox 8"/>
          <p:cNvSpPr txBox="1"/>
          <p:nvPr/>
        </p:nvSpPr>
        <p:spPr>
          <a:xfrm>
            <a:off x="685800" y="7754112"/>
            <a:ext cx="24688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CareSteps  |  Healthcare Challenge 2</a:t>
            </a:r>
          </a:p>
        </p:txBody>
      </p:sp>
      <p:sp>
        <p:nvSpPr>
          <p:cNvPr id="10" name="TextBox 9"/>
          <p:cNvSpPr txBox="1"/>
          <p:nvPr/>
        </p:nvSpPr>
        <p:spPr>
          <a:xfrm>
            <a:off x="3291840" y="7754112"/>
            <a:ext cx="88696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app/tools/contracts.py | app/tools/handlers.py | app/routes/api.py | app/stats.py</a:t>
            </a:r>
          </a:p>
        </p:txBody>
      </p:sp>
      <p:sp>
        <p:nvSpPr>
          <p:cNvPr id="11" name="TextBox 10"/>
          <p:cNvSpPr txBox="1"/>
          <p:nvPr/>
        </p:nvSpPr>
        <p:spPr>
          <a:xfrm>
            <a:off x="12966192" y="7726679"/>
            <a:ext cx="960120" cy="228600"/>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1000" b="0">
                <a:solidFill>
                  <a:srgbClr val="6B6861"/>
                </a:solidFill>
                <a:latin typeface="Arimo"/>
              </a:rPr>
              <a:t>05 / 09</a:t>
            </a:r>
          </a:p>
        </p:txBody>
      </p:sp>
      <p:sp>
        <p:nvSpPr>
          <p:cNvPr id="12" name="TextBox 11"/>
          <p:cNvSpPr txBox="1"/>
          <p:nvPr/>
        </p:nvSpPr>
        <p:spPr>
          <a:xfrm>
            <a:off x="694944" y="1700784"/>
            <a:ext cx="1783080" cy="29260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0B61C9"/>
                </a:solidFill>
                <a:latin typeface="Arimo"/>
              </a:rPr>
              <a:t>READ / COMPUTE</a:t>
            </a:r>
          </a:p>
        </p:txBody>
      </p:sp>
      <p:sp>
        <p:nvSpPr>
          <p:cNvPr id="13" name="TextBox 12"/>
          <p:cNvSpPr txBox="1"/>
          <p:nvPr/>
        </p:nvSpPr>
        <p:spPr>
          <a:xfrm>
            <a:off x="2615184" y="1691640"/>
            <a:ext cx="7452360"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0B61C9"/>
                </a:solidFill>
                <a:latin typeface="Arimo"/>
              </a:rPr>
              <a:t>"What was my average blood pressure this week?"</a:t>
            </a:r>
          </a:p>
        </p:txBody>
      </p:sp>
      <p:sp>
        <p:nvSpPr>
          <p:cNvPr id="14" name="Rounded Rectangle 13"/>
          <p:cNvSpPr/>
          <p:nvPr/>
        </p:nvSpPr>
        <p:spPr>
          <a:xfrm>
            <a:off x="694944" y="2176272"/>
            <a:ext cx="2313432" cy="1051560"/>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15" name="Rectangle 14"/>
          <p:cNvSpPr/>
          <p:nvPr/>
        </p:nvSpPr>
        <p:spPr>
          <a:xfrm>
            <a:off x="694944" y="2176272"/>
            <a:ext cx="50292" cy="1051560"/>
          </a:xfrm>
          <a:prstGeom prst="rect">
            <a:avLst/>
          </a:prstGeom>
          <a:solidFill>
            <a:srgbClr val="0B61C9"/>
          </a:solidFill>
          <a:ln>
            <a:noFill/>
          </a:ln>
        </p:spPr>
        <p:txBody>
          <a:bodyPr rtlCol="0" anchor="ctr"/>
          <a:lstStyle/>
          <a:p>
            <a:pPr algn="ctr"/>
          </a:p>
        </p:txBody>
      </p:sp>
      <p:sp>
        <p:nvSpPr>
          <p:cNvPr id="16" name="TextBox 15"/>
          <p:cNvSpPr txBox="1"/>
          <p:nvPr/>
        </p:nvSpPr>
        <p:spPr>
          <a:xfrm>
            <a:off x="877824" y="2295144"/>
            <a:ext cx="1984248"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700" b="1">
                <a:solidFill>
                  <a:srgbClr val="2F2D29"/>
                </a:solidFill>
                <a:latin typeface="Arimo"/>
              </a:rPr>
              <a:t>Safety</a:t>
            </a:r>
          </a:p>
        </p:txBody>
      </p:sp>
      <p:sp>
        <p:nvSpPr>
          <p:cNvPr id="17" name="TextBox 16"/>
          <p:cNvSpPr txBox="1"/>
          <p:nvPr/>
        </p:nvSpPr>
        <p:spPr>
          <a:xfrm>
            <a:off x="877824" y="2688336"/>
            <a:ext cx="2002536" cy="448055"/>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Gates pass</a:t>
            </a:r>
          </a:p>
        </p:txBody>
      </p:sp>
      <p:cxnSp>
        <p:nvCxnSpPr>
          <p:cNvPr id="18" name="Connector 17"/>
          <p:cNvCxnSpPr/>
          <p:nvPr/>
        </p:nvCxnSpPr>
        <p:spPr>
          <a:xfrm>
            <a:off x="3044952" y="2697480"/>
            <a:ext cx="301752" cy="0"/>
          </a:xfrm>
          <a:prstGeom prst="line">
            <a:avLst/>
          </a:prstGeom>
          <a:ln w="21590">
            <a:solidFill>
              <a:srgbClr val="0B61C9"/>
            </a:solidFill>
            <a:tailEnd type="triangle" w="sm" len="sm"/>
          </a:ln>
        </p:spPr>
      </p:cxnSp>
      <p:sp>
        <p:nvSpPr>
          <p:cNvPr id="19" name="Rounded Rectangle 18"/>
          <p:cNvSpPr/>
          <p:nvPr/>
        </p:nvSpPr>
        <p:spPr>
          <a:xfrm>
            <a:off x="3401568" y="2176272"/>
            <a:ext cx="2313432" cy="1051560"/>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20" name="Rectangle 19"/>
          <p:cNvSpPr/>
          <p:nvPr/>
        </p:nvSpPr>
        <p:spPr>
          <a:xfrm>
            <a:off x="3401568" y="2176272"/>
            <a:ext cx="50292" cy="1051560"/>
          </a:xfrm>
          <a:prstGeom prst="rect">
            <a:avLst/>
          </a:prstGeom>
          <a:solidFill>
            <a:srgbClr val="0B61C9"/>
          </a:solidFill>
          <a:ln>
            <a:noFill/>
          </a:ln>
        </p:spPr>
        <p:txBody>
          <a:bodyPr rtlCol="0" anchor="ctr"/>
          <a:lstStyle/>
          <a:p>
            <a:pPr algn="ctr"/>
          </a:p>
        </p:txBody>
      </p:sp>
      <p:sp>
        <p:nvSpPr>
          <p:cNvPr id="21" name="TextBox 20"/>
          <p:cNvSpPr txBox="1"/>
          <p:nvPr/>
        </p:nvSpPr>
        <p:spPr>
          <a:xfrm>
            <a:off x="3584448" y="2295144"/>
            <a:ext cx="1984248"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700" b="1">
                <a:solidFill>
                  <a:srgbClr val="2F2D29"/>
                </a:solidFill>
                <a:latin typeface="Arimo"/>
              </a:rPr>
              <a:t>Request</a:t>
            </a:r>
          </a:p>
        </p:txBody>
      </p:sp>
      <p:sp>
        <p:nvSpPr>
          <p:cNvPr id="22" name="TextBox 21"/>
          <p:cNvSpPr txBox="1"/>
          <p:nvPr/>
        </p:nvSpPr>
        <p:spPr>
          <a:xfrm>
            <a:off x="3584448" y="2688336"/>
            <a:ext cx="2002536" cy="448055"/>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get_period_stats</a:t>
            </a:r>
          </a:p>
          <a:p>
            <a:pPr algn="l">
              <a:lnSpc>
                <a:spcPct val="108000"/>
              </a:lnSpc>
              <a:spcBef>
                <a:spcPts val="0"/>
              </a:spcBef>
              <a:spcAft>
                <a:spcPts val="200"/>
              </a:spcAft>
            </a:pPr>
            <a:r>
              <a:rPr sz="1300" b="0">
                <a:solidFill>
                  <a:srgbClr val="6B6861"/>
                </a:solidFill>
                <a:latin typeface="Arimo"/>
              </a:rPr>
              <a:t>{days: 7}</a:t>
            </a:r>
          </a:p>
        </p:txBody>
      </p:sp>
      <p:cxnSp>
        <p:nvCxnSpPr>
          <p:cNvPr id="23" name="Connector 22"/>
          <p:cNvCxnSpPr/>
          <p:nvPr/>
        </p:nvCxnSpPr>
        <p:spPr>
          <a:xfrm>
            <a:off x="5751575" y="2697480"/>
            <a:ext cx="301752" cy="0"/>
          </a:xfrm>
          <a:prstGeom prst="line">
            <a:avLst/>
          </a:prstGeom>
          <a:ln w="21590">
            <a:solidFill>
              <a:srgbClr val="0B61C9"/>
            </a:solidFill>
            <a:tailEnd type="triangle" w="sm" len="sm"/>
          </a:ln>
        </p:spPr>
      </p:cxnSp>
      <p:sp>
        <p:nvSpPr>
          <p:cNvPr id="24" name="Rounded Rectangle 23"/>
          <p:cNvSpPr/>
          <p:nvPr/>
        </p:nvSpPr>
        <p:spPr>
          <a:xfrm>
            <a:off x="6108192" y="2176272"/>
            <a:ext cx="2313432" cy="1051560"/>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25" name="Rectangle 24"/>
          <p:cNvSpPr/>
          <p:nvPr/>
        </p:nvSpPr>
        <p:spPr>
          <a:xfrm>
            <a:off x="6108192" y="2176272"/>
            <a:ext cx="50292" cy="1051560"/>
          </a:xfrm>
          <a:prstGeom prst="rect">
            <a:avLst/>
          </a:prstGeom>
          <a:solidFill>
            <a:srgbClr val="0B61C9"/>
          </a:solidFill>
          <a:ln>
            <a:noFill/>
          </a:ln>
        </p:spPr>
        <p:txBody>
          <a:bodyPr rtlCol="0" anchor="ctr"/>
          <a:lstStyle/>
          <a:p>
            <a:pPr algn="ctr"/>
          </a:p>
        </p:txBody>
      </p:sp>
      <p:sp>
        <p:nvSpPr>
          <p:cNvPr id="26" name="TextBox 25"/>
          <p:cNvSpPr txBox="1"/>
          <p:nvPr/>
        </p:nvSpPr>
        <p:spPr>
          <a:xfrm>
            <a:off x="6291072" y="2295144"/>
            <a:ext cx="1984248"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700" b="1">
                <a:solidFill>
                  <a:srgbClr val="2F2D29"/>
                </a:solidFill>
                <a:latin typeface="Arimo"/>
              </a:rPr>
              <a:t>Validate</a:t>
            </a:r>
          </a:p>
        </p:txBody>
      </p:sp>
      <p:sp>
        <p:nvSpPr>
          <p:cNvPr id="27" name="TextBox 26"/>
          <p:cNvSpPr txBox="1"/>
          <p:nvPr/>
        </p:nvSpPr>
        <p:spPr>
          <a:xfrm>
            <a:off x="6291072" y="2688336"/>
            <a:ext cx="2002536" cy="448055"/>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Schema + context</a:t>
            </a:r>
          </a:p>
          <a:p>
            <a:pPr algn="l">
              <a:lnSpc>
                <a:spcPct val="108000"/>
              </a:lnSpc>
              <a:spcBef>
                <a:spcPts val="0"/>
              </a:spcBef>
              <a:spcAft>
                <a:spcPts val="200"/>
              </a:spcAft>
            </a:pPr>
            <a:r>
              <a:rPr sz="1300" b="0">
                <a:solidFill>
                  <a:srgbClr val="6B6861"/>
                </a:solidFill>
                <a:latin typeface="Arimo"/>
              </a:rPr>
              <a:t>user_id server-owned</a:t>
            </a:r>
          </a:p>
        </p:txBody>
      </p:sp>
      <p:cxnSp>
        <p:nvCxnSpPr>
          <p:cNvPr id="28" name="Connector 27"/>
          <p:cNvCxnSpPr/>
          <p:nvPr/>
        </p:nvCxnSpPr>
        <p:spPr>
          <a:xfrm>
            <a:off x="8458200" y="2697480"/>
            <a:ext cx="301752" cy="0"/>
          </a:xfrm>
          <a:prstGeom prst="line">
            <a:avLst/>
          </a:prstGeom>
          <a:ln w="21590">
            <a:solidFill>
              <a:srgbClr val="0B61C9"/>
            </a:solidFill>
            <a:tailEnd type="triangle" w="sm" len="sm"/>
          </a:ln>
        </p:spPr>
      </p:cxnSp>
      <p:sp>
        <p:nvSpPr>
          <p:cNvPr id="29" name="Rounded Rectangle 28"/>
          <p:cNvSpPr/>
          <p:nvPr/>
        </p:nvSpPr>
        <p:spPr>
          <a:xfrm>
            <a:off x="8814815" y="2176272"/>
            <a:ext cx="2313432" cy="1051560"/>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30" name="Rectangle 29"/>
          <p:cNvSpPr/>
          <p:nvPr/>
        </p:nvSpPr>
        <p:spPr>
          <a:xfrm>
            <a:off x="8814815" y="2176272"/>
            <a:ext cx="50292" cy="1051560"/>
          </a:xfrm>
          <a:prstGeom prst="rect">
            <a:avLst/>
          </a:prstGeom>
          <a:solidFill>
            <a:srgbClr val="0B61C9"/>
          </a:solidFill>
          <a:ln>
            <a:noFill/>
          </a:ln>
        </p:spPr>
        <p:txBody>
          <a:bodyPr rtlCol="0" anchor="ctr"/>
          <a:lstStyle/>
          <a:p>
            <a:pPr algn="ctr"/>
          </a:p>
        </p:txBody>
      </p:sp>
      <p:sp>
        <p:nvSpPr>
          <p:cNvPr id="31" name="TextBox 30"/>
          <p:cNvSpPr txBox="1"/>
          <p:nvPr/>
        </p:nvSpPr>
        <p:spPr>
          <a:xfrm>
            <a:off x="8997695" y="2295144"/>
            <a:ext cx="1984248"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700" b="1">
                <a:solidFill>
                  <a:srgbClr val="2F2D29"/>
                </a:solidFill>
                <a:latin typeface="Arimo"/>
              </a:rPr>
              <a:t>Compute</a:t>
            </a:r>
          </a:p>
        </p:txBody>
      </p:sp>
      <p:sp>
        <p:nvSpPr>
          <p:cNvPr id="32" name="TextBox 31"/>
          <p:cNvSpPr txBox="1"/>
          <p:nvPr/>
        </p:nvSpPr>
        <p:spPr>
          <a:xfrm>
            <a:off x="8997695" y="2688336"/>
            <a:ext cx="2002536" cy="448055"/>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repo + stats.py</a:t>
            </a:r>
          </a:p>
          <a:p>
            <a:pPr algn="l">
              <a:lnSpc>
                <a:spcPct val="108000"/>
              </a:lnSpc>
              <a:spcBef>
                <a:spcPts val="0"/>
              </a:spcBef>
              <a:spcAft>
                <a:spcPts val="200"/>
              </a:spcAft>
            </a:pPr>
            <a:r>
              <a:rPr sz="1300" b="0">
                <a:solidFill>
                  <a:srgbClr val="6B6861"/>
                </a:solidFill>
                <a:latin typeface="Arimo"/>
              </a:rPr>
              <a:t>window, gaps, n</a:t>
            </a:r>
          </a:p>
        </p:txBody>
      </p:sp>
      <p:cxnSp>
        <p:nvCxnSpPr>
          <p:cNvPr id="33" name="Connector 32"/>
          <p:cNvCxnSpPr/>
          <p:nvPr/>
        </p:nvCxnSpPr>
        <p:spPr>
          <a:xfrm>
            <a:off x="11164824" y="2697480"/>
            <a:ext cx="301752" cy="0"/>
          </a:xfrm>
          <a:prstGeom prst="line">
            <a:avLst/>
          </a:prstGeom>
          <a:ln w="21590">
            <a:solidFill>
              <a:srgbClr val="0B61C9"/>
            </a:solidFill>
            <a:tailEnd type="triangle" w="sm" len="sm"/>
          </a:ln>
        </p:spPr>
      </p:cxnSp>
      <p:sp>
        <p:nvSpPr>
          <p:cNvPr id="34" name="Rounded Rectangle 33"/>
          <p:cNvSpPr/>
          <p:nvPr/>
        </p:nvSpPr>
        <p:spPr>
          <a:xfrm>
            <a:off x="11521440" y="2176272"/>
            <a:ext cx="2313432" cy="1051560"/>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35" name="Rectangle 34"/>
          <p:cNvSpPr/>
          <p:nvPr/>
        </p:nvSpPr>
        <p:spPr>
          <a:xfrm>
            <a:off x="11521440" y="2176272"/>
            <a:ext cx="50292" cy="1051560"/>
          </a:xfrm>
          <a:prstGeom prst="rect">
            <a:avLst/>
          </a:prstGeom>
          <a:solidFill>
            <a:srgbClr val="0B61C9"/>
          </a:solidFill>
          <a:ln>
            <a:noFill/>
          </a:ln>
        </p:spPr>
        <p:txBody>
          <a:bodyPr rtlCol="0" anchor="ctr"/>
          <a:lstStyle/>
          <a:p>
            <a:pPr algn="ctr"/>
          </a:p>
        </p:txBody>
      </p:sp>
      <p:sp>
        <p:nvSpPr>
          <p:cNvPr id="36" name="TextBox 35"/>
          <p:cNvSpPr txBox="1"/>
          <p:nvPr/>
        </p:nvSpPr>
        <p:spPr>
          <a:xfrm>
            <a:off x="11704319" y="2295144"/>
            <a:ext cx="1984248"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700" b="1">
                <a:solidFill>
                  <a:srgbClr val="2F2D29"/>
                </a:solidFill>
                <a:latin typeface="Arimo"/>
              </a:rPr>
              <a:t>Answer</a:t>
            </a:r>
          </a:p>
        </p:txBody>
      </p:sp>
      <p:sp>
        <p:nvSpPr>
          <p:cNvPr id="37" name="TextBox 36"/>
          <p:cNvSpPr txBox="1"/>
          <p:nvPr/>
        </p:nvSpPr>
        <p:spPr>
          <a:xfrm>
            <a:off x="11704319" y="2688336"/>
            <a:ext cx="2002536" cy="448055"/>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6B6861"/>
                </a:solidFill>
                <a:latin typeface="Arimo"/>
              </a:rPr>
              <a:t>Facts -&gt; prose</a:t>
            </a:r>
          </a:p>
          <a:p>
            <a:pPr algn="l">
              <a:lnSpc>
                <a:spcPct val="108000"/>
              </a:lnSpc>
              <a:spcBef>
                <a:spcPts val="0"/>
              </a:spcBef>
              <a:spcAft>
                <a:spcPts val="200"/>
              </a:spcAft>
            </a:pPr>
            <a:r>
              <a:rPr sz="1300" b="0">
                <a:solidFill>
                  <a:srgbClr val="6B6861"/>
                </a:solidFill>
                <a:latin typeface="Arimo"/>
              </a:rPr>
              <a:t>Live output check</a:t>
            </a:r>
          </a:p>
        </p:txBody>
      </p:sp>
      <p:sp>
        <p:nvSpPr>
          <p:cNvPr id="38" name="TextBox 37"/>
          <p:cNvSpPr txBox="1"/>
          <p:nvPr/>
        </p:nvSpPr>
        <p:spPr>
          <a:xfrm>
            <a:off x="694944" y="3867912"/>
            <a:ext cx="12893040" cy="29260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138F98"/>
                </a:solidFill>
                <a:latin typeface="Arimo"/>
              </a:rPr>
              <a:t>PREPARE / CONFIRM</a:t>
            </a:r>
          </a:p>
        </p:txBody>
      </p:sp>
      <p:sp>
        <p:nvSpPr>
          <p:cNvPr id="39" name="TextBox 38"/>
          <p:cNvSpPr txBox="1"/>
          <p:nvPr/>
        </p:nvSpPr>
        <p:spPr>
          <a:xfrm>
            <a:off x="2450592" y="3858768"/>
            <a:ext cx="8046720"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138F98"/>
                </a:solidFill>
                <a:latin typeface="Arimo"/>
              </a:rPr>
              <a:t>Readings and medication reports</a:t>
            </a:r>
          </a:p>
        </p:txBody>
      </p:sp>
      <p:sp>
        <p:nvSpPr>
          <p:cNvPr id="40" name="Rounded Rectangle 39"/>
          <p:cNvSpPr/>
          <p:nvPr/>
        </p:nvSpPr>
        <p:spPr>
          <a:xfrm>
            <a:off x="694944" y="4370832"/>
            <a:ext cx="2871216" cy="1115568"/>
          </a:xfrm>
          <a:prstGeom prst="roundRect">
            <a:avLst/>
          </a:prstGeom>
          <a:solidFill>
            <a:srgbClr val="FFFFFF"/>
          </a:solidFill>
          <a:ln w="9525">
            <a:solidFill>
              <a:srgbClr val="138F98"/>
            </a:solidFill>
          </a:ln>
          <a:effectLst>
            <a:outerShdw blurRad="30000" dist="18000" dir="2700000" algn="ctr" rotWithShape="0">
              <a:srgbClr val="2F2D29">
                <a:alpha val="12000"/>
              </a:srgbClr>
            </a:outerShdw>
          </a:effectLst>
        </p:spPr>
        <p:txBody>
          <a:bodyPr rtlCol="0" anchor="ctr"/>
          <a:lstStyle/>
          <a:p>
            <a:pPr algn="ctr"/>
          </a:p>
        </p:txBody>
      </p:sp>
      <p:sp>
        <p:nvSpPr>
          <p:cNvPr id="41" name="Rectangle 40"/>
          <p:cNvSpPr/>
          <p:nvPr/>
        </p:nvSpPr>
        <p:spPr>
          <a:xfrm>
            <a:off x="694944" y="4370832"/>
            <a:ext cx="50292" cy="1115568"/>
          </a:xfrm>
          <a:prstGeom prst="rect">
            <a:avLst/>
          </a:prstGeom>
          <a:solidFill>
            <a:srgbClr val="138F98"/>
          </a:solidFill>
          <a:ln>
            <a:noFill/>
          </a:ln>
        </p:spPr>
        <p:txBody>
          <a:bodyPr rtlCol="0" anchor="ctr"/>
          <a:lstStyle/>
          <a:p>
            <a:pPr algn="ctr"/>
          </a:p>
        </p:txBody>
      </p:sp>
      <p:sp>
        <p:nvSpPr>
          <p:cNvPr id="42" name="TextBox 41"/>
          <p:cNvSpPr txBox="1"/>
          <p:nvPr/>
        </p:nvSpPr>
        <p:spPr>
          <a:xfrm>
            <a:off x="877824" y="4489704"/>
            <a:ext cx="2542032"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Prepare</a:t>
            </a:r>
          </a:p>
        </p:txBody>
      </p:sp>
      <p:sp>
        <p:nvSpPr>
          <p:cNvPr id="43" name="TextBox 42"/>
          <p:cNvSpPr txBox="1"/>
          <p:nvPr/>
        </p:nvSpPr>
        <p:spPr>
          <a:xfrm>
            <a:off x="877824" y="4882896"/>
            <a:ext cx="2560320" cy="512063"/>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Validate + stage</a:t>
            </a:r>
          </a:p>
          <a:p>
            <a:pPr algn="l">
              <a:lnSpc>
                <a:spcPct val="108000"/>
              </a:lnSpc>
              <a:spcBef>
                <a:spcPts val="0"/>
              </a:spcBef>
              <a:spcAft>
                <a:spcPts val="200"/>
              </a:spcAft>
            </a:pPr>
            <a:r>
              <a:rPr sz="1400" b="0">
                <a:solidFill>
                  <a:srgbClr val="6B6861"/>
                </a:solidFill>
                <a:latin typeface="Arimo"/>
              </a:rPr>
              <a:t>No health record</a:t>
            </a:r>
          </a:p>
        </p:txBody>
      </p:sp>
      <p:cxnSp>
        <p:nvCxnSpPr>
          <p:cNvPr id="44" name="Connector 43"/>
          <p:cNvCxnSpPr/>
          <p:nvPr/>
        </p:nvCxnSpPr>
        <p:spPr>
          <a:xfrm>
            <a:off x="3602736" y="4928616"/>
            <a:ext cx="457200" cy="0"/>
          </a:xfrm>
          <a:prstGeom prst="line">
            <a:avLst/>
          </a:prstGeom>
          <a:ln w="21590">
            <a:solidFill>
              <a:srgbClr val="138F98"/>
            </a:solidFill>
            <a:tailEnd type="triangle" w="sm" len="sm"/>
          </a:ln>
        </p:spPr>
      </p:cxnSp>
      <p:sp>
        <p:nvSpPr>
          <p:cNvPr id="45" name="Rounded Rectangle 44"/>
          <p:cNvSpPr/>
          <p:nvPr/>
        </p:nvSpPr>
        <p:spPr>
          <a:xfrm>
            <a:off x="4123944" y="4370832"/>
            <a:ext cx="2871216" cy="1115568"/>
          </a:xfrm>
          <a:prstGeom prst="roundRect">
            <a:avLst/>
          </a:prstGeom>
          <a:solidFill>
            <a:srgbClr val="FFFFFF"/>
          </a:solidFill>
          <a:ln w="9525">
            <a:solidFill>
              <a:srgbClr val="138F98"/>
            </a:solidFill>
          </a:ln>
          <a:effectLst>
            <a:outerShdw blurRad="30000" dist="18000" dir="2700000" algn="ctr" rotWithShape="0">
              <a:srgbClr val="2F2D29">
                <a:alpha val="12000"/>
              </a:srgbClr>
            </a:outerShdw>
          </a:effectLst>
        </p:spPr>
        <p:txBody>
          <a:bodyPr rtlCol="0" anchor="ctr"/>
          <a:lstStyle/>
          <a:p>
            <a:pPr algn="ctr"/>
          </a:p>
        </p:txBody>
      </p:sp>
      <p:sp>
        <p:nvSpPr>
          <p:cNvPr id="46" name="Rectangle 45"/>
          <p:cNvSpPr/>
          <p:nvPr/>
        </p:nvSpPr>
        <p:spPr>
          <a:xfrm>
            <a:off x="4123944" y="4370832"/>
            <a:ext cx="50292" cy="1115568"/>
          </a:xfrm>
          <a:prstGeom prst="rect">
            <a:avLst/>
          </a:prstGeom>
          <a:solidFill>
            <a:srgbClr val="138F98"/>
          </a:solidFill>
          <a:ln>
            <a:noFill/>
          </a:ln>
        </p:spPr>
        <p:txBody>
          <a:bodyPr rtlCol="0" anchor="ctr"/>
          <a:lstStyle/>
          <a:p>
            <a:pPr algn="ctr"/>
          </a:p>
        </p:txBody>
      </p:sp>
      <p:sp>
        <p:nvSpPr>
          <p:cNvPr id="47" name="TextBox 46"/>
          <p:cNvSpPr txBox="1"/>
          <p:nvPr/>
        </p:nvSpPr>
        <p:spPr>
          <a:xfrm>
            <a:off x="4306824" y="4489704"/>
            <a:ext cx="2542032"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Preview</a:t>
            </a:r>
          </a:p>
        </p:txBody>
      </p:sp>
      <p:sp>
        <p:nvSpPr>
          <p:cNvPr id="48" name="TextBox 47"/>
          <p:cNvSpPr txBox="1"/>
          <p:nvPr/>
        </p:nvSpPr>
        <p:spPr>
          <a:xfrm>
            <a:off x="4306824" y="4882896"/>
            <a:ext cx="2560320" cy="512063"/>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Show draft values</a:t>
            </a:r>
          </a:p>
          <a:p>
            <a:pPr algn="l">
              <a:lnSpc>
                <a:spcPct val="108000"/>
              </a:lnSpc>
              <a:spcBef>
                <a:spcPts val="0"/>
              </a:spcBef>
              <a:spcAft>
                <a:spcPts val="200"/>
              </a:spcAft>
            </a:pPr>
            <a:r>
              <a:rPr sz="1400" b="0">
                <a:solidFill>
                  <a:srgbClr val="6B6861"/>
                </a:solidFill>
                <a:latin typeface="Arimo"/>
              </a:rPr>
              <a:t>User sees before save</a:t>
            </a:r>
          </a:p>
        </p:txBody>
      </p:sp>
      <p:cxnSp>
        <p:nvCxnSpPr>
          <p:cNvPr id="49" name="Connector 48"/>
          <p:cNvCxnSpPr/>
          <p:nvPr/>
        </p:nvCxnSpPr>
        <p:spPr>
          <a:xfrm>
            <a:off x="7031736" y="4928616"/>
            <a:ext cx="457200" cy="0"/>
          </a:xfrm>
          <a:prstGeom prst="line">
            <a:avLst/>
          </a:prstGeom>
          <a:ln w="21590">
            <a:solidFill>
              <a:srgbClr val="138F98"/>
            </a:solidFill>
            <a:tailEnd type="triangle" w="sm" len="sm"/>
          </a:ln>
        </p:spPr>
      </p:cxnSp>
      <p:sp>
        <p:nvSpPr>
          <p:cNvPr id="50" name="Rounded Rectangle 49"/>
          <p:cNvSpPr/>
          <p:nvPr/>
        </p:nvSpPr>
        <p:spPr>
          <a:xfrm>
            <a:off x="7552944" y="4370832"/>
            <a:ext cx="2871216" cy="1115568"/>
          </a:xfrm>
          <a:prstGeom prst="roundRect">
            <a:avLst/>
          </a:prstGeom>
          <a:solidFill>
            <a:srgbClr val="FFFFFF"/>
          </a:solidFill>
          <a:ln w="9525">
            <a:solidFill>
              <a:srgbClr val="138F98"/>
            </a:solidFill>
          </a:ln>
          <a:effectLst>
            <a:outerShdw blurRad="30000" dist="18000" dir="2700000" algn="ctr" rotWithShape="0">
              <a:srgbClr val="2F2D29">
                <a:alpha val="12000"/>
              </a:srgbClr>
            </a:outerShdw>
          </a:effectLst>
        </p:spPr>
        <p:txBody>
          <a:bodyPr rtlCol="0" anchor="ctr"/>
          <a:lstStyle/>
          <a:p>
            <a:pPr algn="ctr"/>
          </a:p>
        </p:txBody>
      </p:sp>
      <p:sp>
        <p:nvSpPr>
          <p:cNvPr id="51" name="Rectangle 50"/>
          <p:cNvSpPr/>
          <p:nvPr/>
        </p:nvSpPr>
        <p:spPr>
          <a:xfrm>
            <a:off x="7552944" y="4370832"/>
            <a:ext cx="50292" cy="1115568"/>
          </a:xfrm>
          <a:prstGeom prst="rect">
            <a:avLst/>
          </a:prstGeom>
          <a:solidFill>
            <a:srgbClr val="138F98"/>
          </a:solidFill>
          <a:ln>
            <a:noFill/>
          </a:ln>
        </p:spPr>
        <p:txBody>
          <a:bodyPr rtlCol="0" anchor="ctr"/>
          <a:lstStyle/>
          <a:p>
            <a:pPr algn="ctr"/>
          </a:p>
        </p:txBody>
      </p:sp>
      <p:sp>
        <p:nvSpPr>
          <p:cNvPr id="52" name="TextBox 51"/>
          <p:cNvSpPr txBox="1"/>
          <p:nvPr/>
        </p:nvSpPr>
        <p:spPr>
          <a:xfrm>
            <a:off x="7735823" y="4489704"/>
            <a:ext cx="2542032"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Confirm</a:t>
            </a:r>
          </a:p>
        </p:txBody>
      </p:sp>
      <p:sp>
        <p:nvSpPr>
          <p:cNvPr id="53" name="TextBox 52"/>
          <p:cNvSpPr txBox="1"/>
          <p:nvPr/>
        </p:nvSpPr>
        <p:spPr>
          <a:xfrm>
            <a:off x="7735823" y="4882896"/>
            <a:ext cx="2560320" cy="512063"/>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POST /api/chat/confirm</a:t>
            </a:r>
          </a:p>
          <a:p>
            <a:pPr algn="l">
              <a:lnSpc>
                <a:spcPct val="108000"/>
              </a:lnSpc>
              <a:spcBef>
                <a:spcPts val="0"/>
              </a:spcBef>
              <a:spcAft>
                <a:spcPts val="200"/>
              </a:spcAft>
            </a:pPr>
            <a:r>
              <a:rPr sz="1400" b="0">
                <a:solidFill>
                  <a:srgbClr val="6B6861"/>
                </a:solidFill>
                <a:latin typeface="Arimo"/>
              </a:rPr>
              <a:t>UI-only handler</a:t>
            </a:r>
          </a:p>
        </p:txBody>
      </p:sp>
      <p:cxnSp>
        <p:nvCxnSpPr>
          <p:cNvPr id="54" name="Connector 53"/>
          <p:cNvCxnSpPr/>
          <p:nvPr/>
        </p:nvCxnSpPr>
        <p:spPr>
          <a:xfrm>
            <a:off x="10460736" y="4928616"/>
            <a:ext cx="457200" cy="0"/>
          </a:xfrm>
          <a:prstGeom prst="line">
            <a:avLst/>
          </a:prstGeom>
          <a:ln w="21590">
            <a:solidFill>
              <a:srgbClr val="138F98"/>
            </a:solidFill>
            <a:tailEnd type="triangle" w="sm" len="sm"/>
          </a:ln>
        </p:spPr>
      </p:cxnSp>
      <p:sp>
        <p:nvSpPr>
          <p:cNvPr id="55" name="Rounded Rectangle 54"/>
          <p:cNvSpPr/>
          <p:nvPr/>
        </p:nvSpPr>
        <p:spPr>
          <a:xfrm>
            <a:off x="10981944" y="4370832"/>
            <a:ext cx="2871216" cy="1115568"/>
          </a:xfrm>
          <a:prstGeom prst="roundRect">
            <a:avLst/>
          </a:prstGeom>
          <a:solidFill>
            <a:srgbClr val="FFFFFF"/>
          </a:solidFill>
          <a:ln w="9525">
            <a:solidFill>
              <a:srgbClr val="138F98"/>
            </a:solidFill>
          </a:ln>
          <a:effectLst>
            <a:outerShdw blurRad="30000" dist="18000" dir="2700000" algn="ctr" rotWithShape="0">
              <a:srgbClr val="2F2D29">
                <a:alpha val="12000"/>
              </a:srgbClr>
            </a:outerShdw>
          </a:effectLst>
        </p:spPr>
        <p:txBody>
          <a:bodyPr rtlCol="0" anchor="ctr"/>
          <a:lstStyle/>
          <a:p>
            <a:pPr algn="ctr"/>
          </a:p>
        </p:txBody>
      </p:sp>
      <p:sp>
        <p:nvSpPr>
          <p:cNvPr id="56" name="Rectangle 55"/>
          <p:cNvSpPr/>
          <p:nvPr/>
        </p:nvSpPr>
        <p:spPr>
          <a:xfrm>
            <a:off x="10981944" y="4370832"/>
            <a:ext cx="50292" cy="1115568"/>
          </a:xfrm>
          <a:prstGeom prst="rect">
            <a:avLst/>
          </a:prstGeom>
          <a:solidFill>
            <a:srgbClr val="138F98"/>
          </a:solidFill>
          <a:ln>
            <a:noFill/>
          </a:ln>
        </p:spPr>
        <p:txBody>
          <a:bodyPr rtlCol="0" anchor="ctr"/>
          <a:lstStyle/>
          <a:p>
            <a:pPr algn="ctr"/>
          </a:p>
        </p:txBody>
      </p:sp>
      <p:sp>
        <p:nvSpPr>
          <p:cNvPr id="57" name="TextBox 56"/>
          <p:cNvSpPr txBox="1"/>
          <p:nvPr/>
        </p:nvSpPr>
        <p:spPr>
          <a:xfrm>
            <a:off x="11164824" y="4489704"/>
            <a:ext cx="2542032"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Persist</a:t>
            </a:r>
          </a:p>
        </p:txBody>
      </p:sp>
      <p:sp>
        <p:nvSpPr>
          <p:cNvPr id="58" name="TextBox 57"/>
          <p:cNvSpPr txBox="1"/>
          <p:nvPr/>
        </p:nvSpPr>
        <p:spPr>
          <a:xfrm>
            <a:off x="11164824" y="4882896"/>
            <a:ext cx="2560320" cy="512063"/>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Repository saves</a:t>
            </a:r>
          </a:p>
          <a:p>
            <a:pPr algn="l">
              <a:lnSpc>
                <a:spcPct val="108000"/>
              </a:lnSpc>
              <a:spcBef>
                <a:spcPts val="0"/>
              </a:spcBef>
              <a:spcAft>
                <a:spcPts val="200"/>
              </a:spcAft>
            </a:pPr>
            <a:r>
              <a:rPr sz="1400" b="0">
                <a:solidFill>
                  <a:srgbClr val="6B6861"/>
                </a:solidFill>
                <a:latin typeface="Arimo"/>
              </a:rPr>
              <a:t>Duplicate protection</a:t>
            </a:r>
          </a:p>
        </p:txBody>
      </p:sp>
      <p:pic>
        <p:nvPicPr>
          <p:cNvPr id="59" name="Picture 58" descr="phone.png"/>
          <p:cNvPicPr>
            <a:picLocks noChangeAspect="1"/>
          </p:cNvPicPr>
          <p:nvPr/>
        </p:nvPicPr>
        <p:blipFill>
          <a:blip r:embed="rId4"/>
          <a:stretch>
            <a:fillRect/>
          </a:stretch>
        </p:blipFill>
        <p:spPr>
          <a:xfrm>
            <a:off x="11731752" y="5596128"/>
            <a:ext cx="627553" cy="1188720"/>
          </a:xfrm>
          <a:prstGeom prst="rect">
            <a:avLst/>
          </a:prstGeom>
        </p:spPr>
      </p:pic>
      <p:sp>
        <p:nvSpPr>
          <p:cNvPr id="60" name="Rounded Rectangle 59"/>
          <p:cNvSpPr/>
          <p:nvPr/>
        </p:nvSpPr>
        <p:spPr>
          <a:xfrm>
            <a:off x="685800" y="6967728"/>
            <a:ext cx="13258800" cy="448056"/>
          </a:xfrm>
          <a:prstGeom prst="roundRect">
            <a:avLst/>
          </a:prstGeom>
          <a:solidFill>
            <a:srgbClr val="FAF3E5"/>
          </a:solidFill>
          <a:ln>
            <a:noFill/>
          </a:ln>
        </p:spPr>
        <p:txBody>
          <a:bodyPr rtlCol="0" anchor="ctr"/>
          <a:lstStyle/>
          <a:p>
            <a:pPr algn="ctr"/>
          </a:p>
        </p:txBody>
      </p:sp>
      <p:sp>
        <p:nvSpPr>
          <p:cNvPr id="61" name="Rectangle 60"/>
          <p:cNvSpPr/>
          <p:nvPr/>
        </p:nvSpPr>
        <p:spPr>
          <a:xfrm>
            <a:off x="850392" y="7123176"/>
            <a:ext cx="82296" cy="137160"/>
          </a:xfrm>
          <a:prstGeom prst="rect">
            <a:avLst/>
          </a:prstGeom>
          <a:solidFill>
            <a:srgbClr val="A77722"/>
          </a:solidFill>
          <a:ln>
            <a:noFill/>
          </a:ln>
        </p:spPr>
        <p:txBody>
          <a:bodyPr rtlCol="0" anchor="ctr"/>
          <a:lstStyle/>
          <a:p>
            <a:pPr algn="ctr"/>
          </a:p>
        </p:txBody>
      </p:sp>
      <p:sp>
        <p:nvSpPr>
          <p:cNvPr id="62" name="TextBox 61"/>
          <p:cNvSpPr txBox="1"/>
          <p:nvPr/>
        </p:nvSpPr>
        <p:spPr>
          <a:xfrm>
            <a:off x="1060704" y="7050024"/>
            <a:ext cx="12618720" cy="28346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A77722"/>
                </a:solidFill>
                <a:latin typeface="Arimo"/>
              </a:rPr>
              <a:t>10 model-facing contracts  |  Human confirmation protects staged health records  |  Scoped direct writes stay explicit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2_background.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658368" y="246888"/>
            <a:ext cx="256032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1">
                <a:solidFill>
                  <a:srgbClr val="6B6861"/>
                </a:solidFill>
                <a:latin typeface="Arimo"/>
              </a:rPr>
              <a:t>CARESteps  /  ARCHITECTURE</a:t>
            </a:r>
          </a:p>
        </p:txBody>
      </p:sp>
      <p:sp>
        <p:nvSpPr>
          <p:cNvPr id="4" name="Rectangle 3"/>
          <p:cNvSpPr/>
          <p:nvPr/>
        </p:nvSpPr>
        <p:spPr>
          <a:xfrm>
            <a:off x="2331720" y="347472"/>
            <a:ext cx="9464040" cy="10972"/>
          </a:xfrm>
          <a:prstGeom prst="rect">
            <a:avLst/>
          </a:prstGeom>
          <a:solidFill>
            <a:srgbClr val="CBD4D9"/>
          </a:solidFill>
          <a:ln>
            <a:noFill/>
          </a:ln>
        </p:spPr>
        <p:txBody>
          <a:bodyPr rtlCol="0" anchor="ctr"/>
          <a:lstStyle/>
          <a:p>
            <a:pPr algn="ctr"/>
          </a:p>
        </p:txBody>
      </p:sp>
      <p:sp>
        <p:nvSpPr>
          <p:cNvPr id="5" name="TextBox 4"/>
          <p:cNvSpPr txBox="1"/>
          <p:nvPr/>
        </p:nvSpPr>
        <p:spPr>
          <a:xfrm>
            <a:off x="12435840" y="246888"/>
            <a:ext cx="1508760" cy="201168"/>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900" b="0">
                <a:solidFill>
                  <a:srgbClr val="6B6861"/>
                </a:solidFill>
                <a:latin typeface="Arimo"/>
              </a:rPr>
              <a:t>16 OCT 2026</a:t>
            </a:r>
          </a:p>
        </p:txBody>
      </p:sp>
      <p:sp>
        <p:nvSpPr>
          <p:cNvPr id="6" name="TextBox 5"/>
          <p:cNvSpPr txBox="1"/>
          <p:nvPr/>
        </p:nvSpPr>
        <p:spPr>
          <a:xfrm>
            <a:off x="658368" y="612648"/>
            <a:ext cx="13121640" cy="50292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100" b="1">
                <a:solidFill>
                  <a:srgbClr val="2F2D29"/>
                </a:solidFill>
                <a:latin typeface="Arimo"/>
              </a:rPr>
              <a:t>Degraded Mode &amp; Partial Failure</a:t>
            </a:r>
          </a:p>
        </p:txBody>
      </p:sp>
      <p:sp>
        <p:nvSpPr>
          <p:cNvPr id="7" name="TextBox 6"/>
          <p:cNvSpPr txBox="1"/>
          <p:nvPr/>
        </p:nvSpPr>
        <p:spPr>
          <a:xfrm>
            <a:off x="685800" y="1161288"/>
            <a:ext cx="1271016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50" b="0">
                <a:solidFill>
                  <a:srgbClr val="6B6861"/>
                </a:solidFill>
                <a:latin typeface="Arimo"/>
              </a:rPr>
              <a:t>Core workflows remain available when the optional model is missing, unavailable or interrupted.</a:t>
            </a:r>
          </a:p>
        </p:txBody>
      </p:sp>
      <p:sp>
        <p:nvSpPr>
          <p:cNvPr id="8" name="Rectangle 7"/>
          <p:cNvSpPr/>
          <p:nvPr/>
        </p:nvSpPr>
        <p:spPr>
          <a:xfrm>
            <a:off x="685800" y="7626096"/>
            <a:ext cx="13258800" cy="10972"/>
          </a:xfrm>
          <a:prstGeom prst="rect">
            <a:avLst/>
          </a:prstGeom>
          <a:solidFill>
            <a:srgbClr val="CBD4D9"/>
          </a:solidFill>
          <a:ln>
            <a:noFill/>
          </a:ln>
        </p:spPr>
        <p:txBody>
          <a:bodyPr rtlCol="0" anchor="ctr"/>
          <a:lstStyle/>
          <a:p>
            <a:pPr algn="ctr"/>
          </a:p>
        </p:txBody>
      </p:sp>
      <p:sp>
        <p:nvSpPr>
          <p:cNvPr id="9" name="TextBox 8"/>
          <p:cNvSpPr txBox="1"/>
          <p:nvPr/>
        </p:nvSpPr>
        <p:spPr>
          <a:xfrm>
            <a:off x="685800" y="7754112"/>
            <a:ext cx="24688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CareSteps  |  Healthcare Challenge 2</a:t>
            </a:r>
          </a:p>
        </p:txBody>
      </p:sp>
      <p:sp>
        <p:nvSpPr>
          <p:cNvPr id="10" name="TextBox 9"/>
          <p:cNvSpPr txBox="1"/>
          <p:nvPr/>
        </p:nvSpPr>
        <p:spPr>
          <a:xfrm>
            <a:off x="3291840" y="7754112"/>
            <a:ext cx="88696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app/config.py | app/llm/provider.py | app/llm/orchestrator.py</a:t>
            </a:r>
          </a:p>
        </p:txBody>
      </p:sp>
      <p:sp>
        <p:nvSpPr>
          <p:cNvPr id="11" name="TextBox 10"/>
          <p:cNvSpPr txBox="1"/>
          <p:nvPr/>
        </p:nvSpPr>
        <p:spPr>
          <a:xfrm>
            <a:off x="12966192" y="7726679"/>
            <a:ext cx="960120" cy="228600"/>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1000" b="0">
                <a:solidFill>
                  <a:srgbClr val="6B6861"/>
                </a:solidFill>
                <a:latin typeface="Arimo"/>
              </a:rPr>
              <a:t>06 / 09</a:t>
            </a:r>
          </a:p>
        </p:txBody>
      </p:sp>
      <p:sp>
        <p:nvSpPr>
          <p:cNvPr id="12" name="Rounded Rectangle 11"/>
          <p:cNvSpPr/>
          <p:nvPr/>
        </p:nvSpPr>
        <p:spPr>
          <a:xfrm>
            <a:off x="694944" y="2194560"/>
            <a:ext cx="4078224" cy="1143000"/>
          </a:xfrm>
          <a:prstGeom prst="roundRect">
            <a:avLst/>
          </a:prstGeom>
          <a:solidFill>
            <a:srgbClr val="FFFFFF"/>
          </a:solidFill>
          <a:ln w="9525">
            <a:solidFill>
              <a:srgbClr val="A77722"/>
            </a:solidFill>
          </a:ln>
          <a:effectLst>
            <a:outerShdw blurRad="30000" dist="18000" dir="2700000" algn="ctr" rotWithShape="0">
              <a:srgbClr val="2F2D29">
                <a:alpha val="12000"/>
              </a:srgbClr>
            </a:outerShdw>
          </a:effectLst>
        </p:spPr>
        <p:txBody>
          <a:bodyPr rtlCol="0" anchor="ctr"/>
          <a:lstStyle/>
          <a:p>
            <a:pPr algn="ctr"/>
          </a:p>
        </p:txBody>
      </p:sp>
      <p:sp>
        <p:nvSpPr>
          <p:cNvPr id="13" name="Rectangle 12"/>
          <p:cNvSpPr/>
          <p:nvPr/>
        </p:nvSpPr>
        <p:spPr>
          <a:xfrm>
            <a:off x="694944" y="2194560"/>
            <a:ext cx="50292" cy="1143000"/>
          </a:xfrm>
          <a:prstGeom prst="rect">
            <a:avLst/>
          </a:prstGeom>
          <a:solidFill>
            <a:srgbClr val="A77722"/>
          </a:solidFill>
          <a:ln>
            <a:noFill/>
          </a:ln>
        </p:spPr>
        <p:txBody>
          <a:bodyPr rtlCol="0" anchor="ctr"/>
          <a:lstStyle/>
          <a:p>
            <a:pPr algn="ctr"/>
          </a:p>
        </p:txBody>
      </p:sp>
      <p:sp>
        <p:nvSpPr>
          <p:cNvPr id="14" name="TextBox 13"/>
          <p:cNvSpPr txBox="1"/>
          <p:nvPr/>
        </p:nvSpPr>
        <p:spPr>
          <a:xfrm>
            <a:off x="877824" y="2313432"/>
            <a:ext cx="3749039"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1">
                <a:solidFill>
                  <a:srgbClr val="2F2D29"/>
                </a:solidFill>
                <a:latin typeface="Arimo"/>
              </a:rPr>
              <a:t>No live endpoint</a:t>
            </a:r>
          </a:p>
        </p:txBody>
      </p:sp>
      <p:sp>
        <p:nvSpPr>
          <p:cNvPr id="15" name="TextBox 14"/>
          <p:cNvSpPr txBox="1"/>
          <p:nvPr/>
        </p:nvSpPr>
        <p:spPr>
          <a:xfrm>
            <a:off x="877824" y="2706624"/>
            <a:ext cx="3767328" cy="5394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6B6861"/>
                </a:solidFill>
                <a:latin typeface="Arimo"/>
              </a:rPr>
              <a:t>Unset configuration</a:t>
            </a:r>
          </a:p>
          <a:p>
            <a:pPr algn="l">
              <a:lnSpc>
                <a:spcPct val="108000"/>
              </a:lnSpc>
              <a:spcBef>
                <a:spcPts val="0"/>
              </a:spcBef>
              <a:spcAft>
                <a:spcPts val="200"/>
              </a:spcAft>
            </a:pPr>
            <a:r>
              <a:rPr sz="1500" b="0">
                <a:solidFill>
                  <a:srgbClr val="6B6861"/>
                </a:solidFill>
                <a:latin typeface="Arimo"/>
              </a:rPr>
              <a:t>or forced degraded</a:t>
            </a:r>
          </a:p>
        </p:txBody>
      </p:sp>
      <p:cxnSp>
        <p:nvCxnSpPr>
          <p:cNvPr id="16" name="Connector 15"/>
          <p:cNvCxnSpPr/>
          <p:nvPr/>
        </p:nvCxnSpPr>
        <p:spPr>
          <a:xfrm>
            <a:off x="2734056" y="3383280"/>
            <a:ext cx="0" cy="411480"/>
          </a:xfrm>
          <a:prstGeom prst="line">
            <a:avLst/>
          </a:prstGeom>
          <a:ln w="21590">
            <a:solidFill>
              <a:srgbClr val="A77722"/>
            </a:solidFill>
            <a:tailEnd type="triangle" w="sm" len="sm"/>
          </a:ln>
        </p:spPr>
      </p:cxnSp>
      <p:sp>
        <p:nvSpPr>
          <p:cNvPr id="17" name="Rounded Rectangle 16"/>
          <p:cNvSpPr/>
          <p:nvPr/>
        </p:nvSpPr>
        <p:spPr>
          <a:xfrm>
            <a:off x="694944" y="3858768"/>
            <a:ext cx="4078224" cy="1133856"/>
          </a:xfrm>
          <a:prstGeom prst="roundRect">
            <a:avLst/>
          </a:prstGeom>
          <a:solidFill>
            <a:srgbClr val="FAF3E5"/>
          </a:solidFill>
          <a:ln w="9525">
            <a:solidFill>
              <a:srgbClr val="A77722"/>
            </a:solidFill>
          </a:ln>
          <a:effectLst>
            <a:outerShdw blurRad="30000" dist="18000" dir="2700000" algn="ctr" rotWithShape="0">
              <a:srgbClr val="2F2D29">
                <a:alpha val="12000"/>
              </a:srgbClr>
            </a:outerShdw>
          </a:effectLst>
        </p:spPr>
        <p:txBody>
          <a:bodyPr rtlCol="0" anchor="ctr"/>
          <a:lstStyle/>
          <a:p>
            <a:pPr algn="ctr"/>
          </a:p>
        </p:txBody>
      </p:sp>
      <p:sp>
        <p:nvSpPr>
          <p:cNvPr id="18" name="Rectangle 17"/>
          <p:cNvSpPr/>
          <p:nvPr/>
        </p:nvSpPr>
        <p:spPr>
          <a:xfrm>
            <a:off x="694944" y="3858768"/>
            <a:ext cx="50292" cy="1133856"/>
          </a:xfrm>
          <a:prstGeom prst="rect">
            <a:avLst/>
          </a:prstGeom>
          <a:solidFill>
            <a:srgbClr val="A77722"/>
          </a:solidFill>
          <a:ln>
            <a:noFill/>
          </a:ln>
        </p:spPr>
        <p:txBody>
          <a:bodyPr rtlCol="0" anchor="ctr"/>
          <a:lstStyle/>
          <a:p>
            <a:pPr algn="ctr"/>
          </a:p>
        </p:txBody>
      </p:sp>
      <p:sp>
        <p:nvSpPr>
          <p:cNvPr id="19" name="TextBox 18"/>
          <p:cNvSpPr txBox="1"/>
          <p:nvPr/>
        </p:nvSpPr>
        <p:spPr>
          <a:xfrm>
            <a:off x="877824" y="3977639"/>
            <a:ext cx="3749039"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2000" b="1">
                <a:solidFill>
                  <a:srgbClr val="2F2D29"/>
                </a:solidFill>
                <a:latin typeface="Arimo"/>
              </a:rPr>
              <a:t>Rule-based reply</a:t>
            </a:r>
          </a:p>
        </p:txBody>
      </p:sp>
      <p:sp>
        <p:nvSpPr>
          <p:cNvPr id="20" name="TextBox 19"/>
          <p:cNvSpPr txBox="1"/>
          <p:nvPr/>
        </p:nvSpPr>
        <p:spPr>
          <a:xfrm>
            <a:off x="877824" y="4370831"/>
            <a:ext cx="3767328" cy="53035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6B6861"/>
                </a:solidFill>
                <a:latin typeface="Arimo"/>
              </a:rPr>
              <a:t>mode = degraded</a:t>
            </a:r>
          </a:p>
        </p:txBody>
      </p:sp>
      <p:sp>
        <p:nvSpPr>
          <p:cNvPr id="21" name="Rounded Rectangle 20"/>
          <p:cNvSpPr/>
          <p:nvPr/>
        </p:nvSpPr>
        <p:spPr>
          <a:xfrm>
            <a:off x="5285232" y="2194560"/>
            <a:ext cx="4078224" cy="1143000"/>
          </a:xfrm>
          <a:prstGeom prst="roundRect">
            <a:avLst/>
          </a:prstGeom>
          <a:solidFill>
            <a:srgbClr val="FFFFFF"/>
          </a:solidFill>
          <a:ln w="9525">
            <a:solidFill>
              <a:srgbClr val="A77722"/>
            </a:solidFill>
          </a:ln>
          <a:effectLst>
            <a:outerShdw blurRad="30000" dist="18000" dir="2700000" algn="ctr" rotWithShape="0">
              <a:srgbClr val="2F2D29">
                <a:alpha val="12000"/>
              </a:srgbClr>
            </a:outerShdw>
          </a:effectLst>
        </p:spPr>
        <p:txBody>
          <a:bodyPr rtlCol="0" anchor="ctr"/>
          <a:lstStyle/>
          <a:p>
            <a:pPr algn="ctr"/>
          </a:p>
        </p:txBody>
      </p:sp>
      <p:sp>
        <p:nvSpPr>
          <p:cNvPr id="22" name="Rectangle 21"/>
          <p:cNvSpPr/>
          <p:nvPr/>
        </p:nvSpPr>
        <p:spPr>
          <a:xfrm>
            <a:off x="5285232" y="2194560"/>
            <a:ext cx="50292" cy="1143000"/>
          </a:xfrm>
          <a:prstGeom prst="rect">
            <a:avLst/>
          </a:prstGeom>
          <a:solidFill>
            <a:srgbClr val="A77722"/>
          </a:solidFill>
          <a:ln>
            <a:noFill/>
          </a:ln>
        </p:spPr>
        <p:txBody>
          <a:bodyPr rtlCol="0" anchor="ctr"/>
          <a:lstStyle/>
          <a:p>
            <a:pPr algn="ctr"/>
          </a:p>
        </p:txBody>
      </p:sp>
      <p:sp>
        <p:nvSpPr>
          <p:cNvPr id="23" name="TextBox 22"/>
          <p:cNvSpPr txBox="1"/>
          <p:nvPr/>
        </p:nvSpPr>
        <p:spPr>
          <a:xfrm>
            <a:off x="5468112" y="2313432"/>
            <a:ext cx="3749039"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1">
                <a:solidFill>
                  <a:srgbClr val="2F2D29"/>
                </a:solidFill>
                <a:latin typeface="Arimo"/>
              </a:rPr>
              <a:t>Call fails before tools</a:t>
            </a:r>
          </a:p>
        </p:txBody>
      </p:sp>
      <p:sp>
        <p:nvSpPr>
          <p:cNvPr id="24" name="TextBox 23"/>
          <p:cNvSpPr txBox="1"/>
          <p:nvPr/>
        </p:nvSpPr>
        <p:spPr>
          <a:xfrm>
            <a:off x="5468112" y="2706624"/>
            <a:ext cx="3767328" cy="5394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6B6861"/>
                </a:solidFill>
                <a:latin typeface="Arimo"/>
              </a:rPr>
              <a:t>Timeout or unreadable</a:t>
            </a:r>
          </a:p>
          <a:p>
            <a:pPr algn="l">
              <a:lnSpc>
                <a:spcPct val="108000"/>
              </a:lnSpc>
              <a:spcBef>
                <a:spcPts val="0"/>
              </a:spcBef>
              <a:spcAft>
                <a:spcPts val="200"/>
              </a:spcAft>
            </a:pPr>
            <a:r>
              <a:rPr sz="1500" b="0">
                <a:solidFill>
                  <a:srgbClr val="6B6861"/>
                </a:solidFill>
                <a:latin typeface="Arimo"/>
              </a:rPr>
              <a:t>provider response</a:t>
            </a:r>
          </a:p>
        </p:txBody>
      </p:sp>
      <p:cxnSp>
        <p:nvCxnSpPr>
          <p:cNvPr id="25" name="Connector 24"/>
          <p:cNvCxnSpPr/>
          <p:nvPr/>
        </p:nvCxnSpPr>
        <p:spPr>
          <a:xfrm>
            <a:off x="7324344" y="3383280"/>
            <a:ext cx="0" cy="411480"/>
          </a:xfrm>
          <a:prstGeom prst="line">
            <a:avLst/>
          </a:prstGeom>
          <a:ln w="21590">
            <a:solidFill>
              <a:srgbClr val="A77722"/>
            </a:solidFill>
            <a:tailEnd type="triangle" w="sm" len="sm"/>
          </a:ln>
        </p:spPr>
      </p:cxnSp>
      <p:sp>
        <p:nvSpPr>
          <p:cNvPr id="26" name="Rounded Rectangle 25"/>
          <p:cNvSpPr/>
          <p:nvPr/>
        </p:nvSpPr>
        <p:spPr>
          <a:xfrm>
            <a:off x="5285232" y="3858768"/>
            <a:ext cx="4078224" cy="1133856"/>
          </a:xfrm>
          <a:prstGeom prst="roundRect">
            <a:avLst/>
          </a:prstGeom>
          <a:solidFill>
            <a:srgbClr val="FAF3E5"/>
          </a:solidFill>
          <a:ln w="9525">
            <a:solidFill>
              <a:srgbClr val="A77722"/>
            </a:solidFill>
          </a:ln>
          <a:effectLst>
            <a:outerShdw blurRad="30000" dist="18000" dir="2700000" algn="ctr" rotWithShape="0">
              <a:srgbClr val="2F2D29">
                <a:alpha val="12000"/>
              </a:srgbClr>
            </a:outerShdw>
          </a:effectLst>
        </p:spPr>
        <p:txBody>
          <a:bodyPr rtlCol="0" anchor="ctr"/>
          <a:lstStyle/>
          <a:p>
            <a:pPr algn="ctr"/>
          </a:p>
        </p:txBody>
      </p:sp>
      <p:sp>
        <p:nvSpPr>
          <p:cNvPr id="27" name="Rectangle 26"/>
          <p:cNvSpPr/>
          <p:nvPr/>
        </p:nvSpPr>
        <p:spPr>
          <a:xfrm>
            <a:off x="5285232" y="3858768"/>
            <a:ext cx="50292" cy="1133856"/>
          </a:xfrm>
          <a:prstGeom prst="rect">
            <a:avLst/>
          </a:prstGeom>
          <a:solidFill>
            <a:srgbClr val="A77722"/>
          </a:solidFill>
          <a:ln>
            <a:noFill/>
          </a:ln>
        </p:spPr>
        <p:txBody>
          <a:bodyPr rtlCol="0" anchor="ctr"/>
          <a:lstStyle/>
          <a:p>
            <a:pPr algn="ctr"/>
          </a:p>
        </p:txBody>
      </p:sp>
      <p:sp>
        <p:nvSpPr>
          <p:cNvPr id="28" name="TextBox 27"/>
          <p:cNvSpPr txBox="1"/>
          <p:nvPr/>
        </p:nvSpPr>
        <p:spPr>
          <a:xfrm>
            <a:off x="5468112" y="3977639"/>
            <a:ext cx="3749039"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2000" b="1">
                <a:solidFill>
                  <a:srgbClr val="2F2D29"/>
                </a:solidFill>
                <a:latin typeface="Arimo"/>
              </a:rPr>
              <a:t>Rule-based reply</a:t>
            </a:r>
          </a:p>
        </p:txBody>
      </p:sp>
      <p:sp>
        <p:nvSpPr>
          <p:cNvPr id="29" name="TextBox 28"/>
          <p:cNvSpPr txBox="1"/>
          <p:nvPr/>
        </p:nvSpPr>
        <p:spPr>
          <a:xfrm>
            <a:off x="5468112" y="4370831"/>
            <a:ext cx="3767328" cy="53035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6B6861"/>
                </a:solidFill>
                <a:latin typeface="Arimo"/>
              </a:rPr>
              <a:t>mode = degraded</a:t>
            </a:r>
          </a:p>
        </p:txBody>
      </p:sp>
      <p:sp>
        <p:nvSpPr>
          <p:cNvPr id="30" name="Rounded Rectangle 29"/>
          <p:cNvSpPr/>
          <p:nvPr/>
        </p:nvSpPr>
        <p:spPr>
          <a:xfrm>
            <a:off x="9875520" y="2194560"/>
            <a:ext cx="4078224" cy="1143000"/>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31" name="Rectangle 30"/>
          <p:cNvSpPr/>
          <p:nvPr/>
        </p:nvSpPr>
        <p:spPr>
          <a:xfrm>
            <a:off x="9875520" y="2194560"/>
            <a:ext cx="50292" cy="1143000"/>
          </a:xfrm>
          <a:prstGeom prst="rect">
            <a:avLst/>
          </a:prstGeom>
          <a:solidFill>
            <a:srgbClr val="0B61C9"/>
          </a:solidFill>
          <a:ln>
            <a:noFill/>
          </a:ln>
        </p:spPr>
        <p:txBody>
          <a:bodyPr rtlCol="0" anchor="ctr"/>
          <a:lstStyle/>
          <a:p>
            <a:pPr algn="ctr"/>
          </a:p>
        </p:txBody>
      </p:sp>
      <p:sp>
        <p:nvSpPr>
          <p:cNvPr id="32" name="TextBox 31"/>
          <p:cNvSpPr txBox="1"/>
          <p:nvPr/>
        </p:nvSpPr>
        <p:spPr>
          <a:xfrm>
            <a:off x="10058400" y="2313432"/>
            <a:ext cx="3749039"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1">
                <a:solidFill>
                  <a:srgbClr val="2F2D29"/>
                </a:solidFill>
                <a:latin typeface="Arimo"/>
              </a:rPr>
              <a:t>Tools already ran</a:t>
            </a:r>
          </a:p>
        </p:txBody>
      </p:sp>
      <p:sp>
        <p:nvSpPr>
          <p:cNvPr id="33" name="TextBox 32"/>
          <p:cNvSpPr txBox="1"/>
          <p:nvPr/>
        </p:nvSpPr>
        <p:spPr>
          <a:xfrm>
            <a:off x="10058400" y="2706624"/>
            <a:ext cx="3767328" cy="5394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6B6861"/>
                </a:solidFill>
                <a:latin typeface="Arimo"/>
              </a:rPr>
              <a:t>Later failure or</a:t>
            </a:r>
          </a:p>
          <a:p>
            <a:pPr algn="l">
              <a:lnSpc>
                <a:spcPct val="108000"/>
              </a:lnSpc>
              <a:spcBef>
                <a:spcPts val="0"/>
              </a:spcBef>
              <a:spcAft>
                <a:spcPts val="200"/>
              </a:spcAft>
            </a:pPr>
            <a:r>
              <a:rPr sz="1500" b="0">
                <a:solidFill>
                  <a:srgbClr val="6B6861"/>
                </a:solidFill>
                <a:latin typeface="Arimo"/>
              </a:rPr>
              <a:t>round budget exhausted</a:t>
            </a:r>
          </a:p>
        </p:txBody>
      </p:sp>
      <p:cxnSp>
        <p:nvCxnSpPr>
          <p:cNvPr id="34" name="Connector 33"/>
          <p:cNvCxnSpPr/>
          <p:nvPr/>
        </p:nvCxnSpPr>
        <p:spPr>
          <a:xfrm>
            <a:off x="11914632" y="3383280"/>
            <a:ext cx="0" cy="411480"/>
          </a:xfrm>
          <a:prstGeom prst="line">
            <a:avLst/>
          </a:prstGeom>
          <a:ln w="21590">
            <a:solidFill>
              <a:srgbClr val="0B61C9"/>
            </a:solidFill>
            <a:tailEnd type="triangle" w="sm" len="sm"/>
          </a:ln>
        </p:spPr>
      </p:cxnSp>
      <p:sp>
        <p:nvSpPr>
          <p:cNvPr id="35" name="Rounded Rectangle 34"/>
          <p:cNvSpPr/>
          <p:nvPr/>
        </p:nvSpPr>
        <p:spPr>
          <a:xfrm>
            <a:off x="9875520" y="3858768"/>
            <a:ext cx="4078224" cy="1133856"/>
          </a:xfrm>
          <a:prstGeom prst="roundRect">
            <a:avLst/>
          </a:prstGeom>
          <a:solidFill>
            <a:srgbClr val="EEF5FB"/>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36" name="Rectangle 35"/>
          <p:cNvSpPr/>
          <p:nvPr/>
        </p:nvSpPr>
        <p:spPr>
          <a:xfrm>
            <a:off x="9875520" y="3858768"/>
            <a:ext cx="50292" cy="1133856"/>
          </a:xfrm>
          <a:prstGeom prst="rect">
            <a:avLst/>
          </a:prstGeom>
          <a:solidFill>
            <a:srgbClr val="0B61C9"/>
          </a:solidFill>
          <a:ln>
            <a:noFill/>
          </a:ln>
        </p:spPr>
        <p:txBody>
          <a:bodyPr rtlCol="0" anchor="ctr"/>
          <a:lstStyle/>
          <a:p>
            <a:pPr algn="ctr"/>
          </a:p>
        </p:txBody>
      </p:sp>
      <p:sp>
        <p:nvSpPr>
          <p:cNvPr id="37" name="TextBox 36"/>
          <p:cNvSpPr txBox="1"/>
          <p:nvPr/>
        </p:nvSpPr>
        <p:spPr>
          <a:xfrm>
            <a:off x="10058400" y="3977639"/>
            <a:ext cx="3749039"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2000" b="1">
                <a:solidFill>
                  <a:srgbClr val="2F2D29"/>
                </a:solidFill>
                <a:latin typeface="Arimo"/>
              </a:rPr>
              <a:t>Tool-result fallback</a:t>
            </a:r>
          </a:p>
        </p:txBody>
      </p:sp>
      <p:sp>
        <p:nvSpPr>
          <p:cNvPr id="38" name="TextBox 37"/>
          <p:cNvSpPr txBox="1"/>
          <p:nvPr/>
        </p:nvSpPr>
        <p:spPr>
          <a:xfrm>
            <a:off x="10058400" y="4370831"/>
            <a:ext cx="3767328" cy="53035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6B6861"/>
                </a:solidFill>
                <a:latin typeface="Arimo"/>
              </a:rPr>
              <a:t>mode = live + check</a:t>
            </a:r>
          </a:p>
        </p:txBody>
      </p:sp>
      <p:sp>
        <p:nvSpPr>
          <p:cNvPr id="39" name="TextBox 38"/>
          <p:cNvSpPr txBox="1"/>
          <p:nvPr/>
        </p:nvSpPr>
        <p:spPr>
          <a:xfrm>
            <a:off x="704088" y="5532120"/>
            <a:ext cx="13075920" cy="29260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138F98"/>
                </a:solidFill>
                <a:latin typeface="Arimo"/>
              </a:rPr>
              <a:t>LOCAL WORKFLOWS REMAIN AVAILABLE</a:t>
            </a:r>
          </a:p>
        </p:txBody>
      </p:sp>
      <p:sp>
        <p:nvSpPr>
          <p:cNvPr id="40" name="Rounded Rectangle 39"/>
          <p:cNvSpPr/>
          <p:nvPr/>
        </p:nvSpPr>
        <p:spPr>
          <a:xfrm>
            <a:off x="694944" y="5989320"/>
            <a:ext cx="2999232" cy="457200"/>
          </a:xfrm>
          <a:prstGeom prst="roundRect">
            <a:avLst/>
          </a:prstGeom>
          <a:solidFill>
            <a:srgbClr val="EAF7F5"/>
          </a:solidFill>
          <a:ln w="9525">
            <a:solidFill>
              <a:srgbClr val="138F98"/>
            </a:solidFill>
          </a:ln>
        </p:spPr>
        <p:txBody>
          <a:bodyPr rtlCol="0" anchor="ctr"/>
          <a:lstStyle/>
          <a:p>
            <a:pPr algn="ctr"/>
          </a:p>
        </p:txBody>
      </p:sp>
      <p:sp>
        <p:nvSpPr>
          <p:cNvPr id="41" name="Rectangle 40"/>
          <p:cNvSpPr/>
          <p:nvPr/>
        </p:nvSpPr>
        <p:spPr>
          <a:xfrm>
            <a:off x="804672" y="6172200"/>
            <a:ext cx="91440" cy="91440"/>
          </a:xfrm>
          <a:prstGeom prst="rect">
            <a:avLst/>
          </a:prstGeom>
          <a:solidFill>
            <a:srgbClr val="138F98"/>
          </a:solidFill>
          <a:ln>
            <a:noFill/>
          </a:ln>
        </p:spPr>
        <p:txBody>
          <a:bodyPr rtlCol="0" anchor="ctr"/>
          <a:lstStyle/>
          <a:p>
            <a:pPr algn="ctr"/>
          </a:p>
        </p:txBody>
      </p:sp>
      <p:sp>
        <p:nvSpPr>
          <p:cNvPr id="42" name="TextBox 41"/>
          <p:cNvSpPr txBox="1"/>
          <p:nvPr/>
        </p:nvSpPr>
        <p:spPr>
          <a:xfrm>
            <a:off x="1005840" y="6053328"/>
            <a:ext cx="2578608" cy="36576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2F2D29"/>
                </a:solidFill>
                <a:latin typeface="Arimo"/>
              </a:rPr>
              <a:t>BP entry forms</a:t>
            </a:r>
          </a:p>
        </p:txBody>
      </p:sp>
      <p:sp>
        <p:nvSpPr>
          <p:cNvPr id="43" name="Rounded Rectangle 42"/>
          <p:cNvSpPr/>
          <p:nvPr/>
        </p:nvSpPr>
        <p:spPr>
          <a:xfrm>
            <a:off x="4096512" y="5989320"/>
            <a:ext cx="2999232" cy="457200"/>
          </a:xfrm>
          <a:prstGeom prst="roundRect">
            <a:avLst/>
          </a:prstGeom>
          <a:solidFill>
            <a:srgbClr val="EAF7F5"/>
          </a:solidFill>
          <a:ln w="9525">
            <a:solidFill>
              <a:srgbClr val="138F98"/>
            </a:solidFill>
          </a:ln>
        </p:spPr>
        <p:txBody>
          <a:bodyPr rtlCol="0" anchor="ctr"/>
          <a:lstStyle/>
          <a:p>
            <a:pPr algn="ctr"/>
          </a:p>
        </p:txBody>
      </p:sp>
      <p:sp>
        <p:nvSpPr>
          <p:cNvPr id="44" name="Rectangle 43"/>
          <p:cNvSpPr/>
          <p:nvPr/>
        </p:nvSpPr>
        <p:spPr>
          <a:xfrm>
            <a:off x="4206240" y="6172200"/>
            <a:ext cx="91440" cy="91440"/>
          </a:xfrm>
          <a:prstGeom prst="rect">
            <a:avLst/>
          </a:prstGeom>
          <a:solidFill>
            <a:srgbClr val="138F98"/>
          </a:solidFill>
          <a:ln>
            <a:noFill/>
          </a:ln>
        </p:spPr>
        <p:txBody>
          <a:bodyPr rtlCol="0" anchor="ctr"/>
          <a:lstStyle/>
          <a:p>
            <a:pPr algn="ctr"/>
          </a:p>
        </p:txBody>
      </p:sp>
      <p:sp>
        <p:nvSpPr>
          <p:cNvPr id="45" name="TextBox 44"/>
          <p:cNvSpPr txBox="1"/>
          <p:nvPr/>
        </p:nvSpPr>
        <p:spPr>
          <a:xfrm>
            <a:off x="4407408" y="6053328"/>
            <a:ext cx="2578608" cy="36576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2F2D29"/>
                </a:solidFill>
                <a:latin typeface="Arimo"/>
              </a:rPr>
              <a:t>Trends + statistics</a:t>
            </a:r>
          </a:p>
        </p:txBody>
      </p:sp>
      <p:sp>
        <p:nvSpPr>
          <p:cNvPr id="46" name="Rounded Rectangle 45"/>
          <p:cNvSpPr/>
          <p:nvPr/>
        </p:nvSpPr>
        <p:spPr>
          <a:xfrm>
            <a:off x="7498080" y="5989320"/>
            <a:ext cx="2999232" cy="457200"/>
          </a:xfrm>
          <a:prstGeom prst="roundRect">
            <a:avLst/>
          </a:prstGeom>
          <a:solidFill>
            <a:srgbClr val="EAF7F5"/>
          </a:solidFill>
          <a:ln w="9525">
            <a:solidFill>
              <a:srgbClr val="138F98"/>
            </a:solidFill>
          </a:ln>
        </p:spPr>
        <p:txBody>
          <a:bodyPr rtlCol="0" anchor="ctr"/>
          <a:lstStyle/>
          <a:p>
            <a:pPr algn="ctr"/>
          </a:p>
        </p:txBody>
      </p:sp>
      <p:sp>
        <p:nvSpPr>
          <p:cNvPr id="47" name="Rectangle 46"/>
          <p:cNvSpPr/>
          <p:nvPr/>
        </p:nvSpPr>
        <p:spPr>
          <a:xfrm>
            <a:off x="7607808" y="6172200"/>
            <a:ext cx="91440" cy="91440"/>
          </a:xfrm>
          <a:prstGeom prst="rect">
            <a:avLst/>
          </a:prstGeom>
          <a:solidFill>
            <a:srgbClr val="138F98"/>
          </a:solidFill>
          <a:ln>
            <a:noFill/>
          </a:ln>
        </p:spPr>
        <p:txBody>
          <a:bodyPr rtlCol="0" anchor="ctr"/>
          <a:lstStyle/>
          <a:p>
            <a:pPr algn="ctr"/>
          </a:p>
        </p:txBody>
      </p:sp>
      <p:sp>
        <p:nvSpPr>
          <p:cNvPr id="48" name="TextBox 47"/>
          <p:cNvSpPr txBox="1"/>
          <p:nvPr/>
        </p:nvSpPr>
        <p:spPr>
          <a:xfrm>
            <a:off x="7808976" y="6053328"/>
            <a:ext cx="2578608" cy="36576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2F2D29"/>
                </a:solidFill>
                <a:latin typeface="Arimo"/>
              </a:rPr>
              <a:t>Medicine reports</a:t>
            </a:r>
          </a:p>
        </p:txBody>
      </p:sp>
      <p:sp>
        <p:nvSpPr>
          <p:cNvPr id="49" name="Rounded Rectangle 48"/>
          <p:cNvSpPr/>
          <p:nvPr/>
        </p:nvSpPr>
        <p:spPr>
          <a:xfrm>
            <a:off x="10899648" y="5989320"/>
            <a:ext cx="2999232" cy="457200"/>
          </a:xfrm>
          <a:prstGeom prst="roundRect">
            <a:avLst/>
          </a:prstGeom>
          <a:solidFill>
            <a:srgbClr val="EAF7F5"/>
          </a:solidFill>
          <a:ln w="9525">
            <a:solidFill>
              <a:srgbClr val="138F98"/>
            </a:solidFill>
          </a:ln>
        </p:spPr>
        <p:txBody>
          <a:bodyPr rtlCol="0" anchor="ctr"/>
          <a:lstStyle/>
          <a:p>
            <a:pPr algn="ctr"/>
          </a:p>
        </p:txBody>
      </p:sp>
      <p:sp>
        <p:nvSpPr>
          <p:cNvPr id="50" name="Rectangle 49"/>
          <p:cNvSpPr/>
          <p:nvPr/>
        </p:nvSpPr>
        <p:spPr>
          <a:xfrm>
            <a:off x="11009376" y="6172200"/>
            <a:ext cx="91440" cy="91440"/>
          </a:xfrm>
          <a:prstGeom prst="rect">
            <a:avLst/>
          </a:prstGeom>
          <a:solidFill>
            <a:srgbClr val="138F98"/>
          </a:solidFill>
          <a:ln>
            <a:noFill/>
          </a:ln>
        </p:spPr>
        <p:txBody>
          <a:bodyPr rtlCol="0" anchor="ctr"/>
          <a:lstStyle/>
          <a:p>
            <a:pPr algn="ctr"/>
          </a:p>
        </p:txBody>
      </p:sp>
      <p:sp>
        <p:nvSpPr>
          <p:cNvPr id="51" name="TextBox 50"/>
          <p:cNvSpPr txBox="1"/>
          <p:nvPr/>
        </p:nvSpPr>
        <p:spPr>
          <a:xfrm>
            <a:off x="11210544" y="6053328"/>
            <a:ext cx="2578608" cy="36576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2F2D29"/>
                </a:solidFill>
                <a:latin typeface="Arimo"/>
              </a:rPr>
              <a:t>Visit summary</a:t>
            </a:r>
          </a:p>
        </p:txBody>
      </p:sp>
      <p:sp>
        <p:nvSpPr>
          <p:cNvPr id="52" name="Rounded Rectangle 51"/>
          <p:cNvSpPr/>
          <p:nvPr/>
        </p:nvSpPr>
        <p:spPr>
          <a:xfrm>
            <a:off x="685800" y="6967728"/>
            <a:ext cx="13258800" cy="448056"/>
          </a:xfrm>
          <a:prstGeom prst="roundRect">
            <a:avLst/>
          </a:prstGeom>
          <a:solidFill>
            <a:srgbClr val="F2F0EC"/>
          </a:solidFill>
          <a:ln>
            <a:noFill/>
          </a:ln>
        </p:spPr>
        <p:txBody>
          <a:bodyPr rtlCol="0" anchor="ctr"/>
          <a:lstStyle/>
          <a:p>
            <a:pPr algn="ctr"/>
          </a:p>
        </p:txBody>
      </p:sp>
      <p:sp>
        <p:nvSpPr>
          <p:cNvPr id="53" name="Rectangle 52"/>
          <p:cNvSpPr/>
          <p:nvPr/>
        </p:nvSpPr>
        <p:spPr>
          <a:xfrm>
            <a:off x="850392" y="7123176"/>
            <a:ext cx="82296" cy="137160"/>
          </a:xfrm>
          <a:prstGeom prst="rect">
            <a:avLst/>
          </a:prstGeom>
          <a:solidFill>
            <a:srgbClr val="2F2D29"/>
          </a:solidFill>
          <a:ln>
            <a:noFill/>
          </a:ln>
        </p:spPr>
        <p:txBody>
          <a:bodyPr rtlCol="0" anchor="ctr"/>
          <a:lstStyle/>
          <a:p>
            <a:pPr algn="ctr"/>
          </a:p>
        </p:txBody>
      </p:sp>
      <p:sp>
        <p:nvSpPr>
          <p:cNvPr id="54" name="TextBox 53"/>
          <p:cNvSpPr txBox="1"/>
          <p:nvPr/>
        </p:nvSpPr>
        <p:spPr>
          <a:xfrm>
            <a:off x="1060704" y="7050024"/>
            <a:ext cx="12618720" cy="28346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2F2D29"/>
                </a:solidFill>
                <a:latin typeface="Arimo"/>
              </a:rPr>
              <a:t>A later model failure does not undo completed tool writes; the application records actual outcomes.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2_background.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658368" y="246888"/>
            <a:ext cx="256032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1">
                <a:solidFill>
                  <a:srgbClr val="6B6861"/>
                </a:solidFill>
                <a:latin typeface="Arimo"/>
              </a:rPr>
              <a:t>CARESteps  /  ARCHITECTURE</a:t>
            </a:r>
          </a:p>
        </p:txBody>
      </p:sp>
      <p:sp>
        <p:nvSpPr>
          <p:cNvPr id="4" name="Rectangle 3"/>
          <p:cNvSpPr/>
          <p:nvPr/>
        </p:nvSpPr>
        <p:spPr>
          <a:xfrm>
            <a:off x="2331720" y="347472"/>
            <a:ext cx="9464040" cy="10972"/>
          </a:xfrm>
          <a:prstGeom prst="rect">
            <a:avLst/>
          </a:prstGeom>
          <a:solidFill>
            <a:srgbClr val="CBD4D9"/>
          </a:solidFill>
          <a:ln>
            <a:noFill/>
          </a:ln>
        </p:spPr>
        <p:txBody>
          <a:bodyPr rtlCol="0" anchor="ctr"/>
          <a:lstStyle/>
          <a:p>
            <a:pPr algn="ctr"/>
          </a:p>
        </p:txBody>
      </p:sp>
      <p:sp>
        <p:nvSpPr>
          <p:cNvPr id="5" name="TextBox 4"/>
          <p:cNvSpPr txBox="1"/>
          <p:nvPr/>
        </p:nvSpPr>
        <p:spPr>
          <a:xfrm>
            <a:off x="12435840" y="246888"/>
            <a:ext cx="1508760" cy="201168"/>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900" b="0">
                <a:solidFill>
                  <a:srgbClr val="6B6861"/>
                </a:solidFill>
                <a:latin typeface="Arimo"/>
              </a:rPr>
              <a:t>16 OCT 2026</a:t>
            </a:r>
          </a:p>
        </p:txBody>
      </p:sp>
      <p:sp>
        <p:nvSpPr>
          <p:cNvPr id="6" name="TextBox 5"/>
          <p:cNvSpPr txBox="1"/>
          <p:nvPr/>
        </p:nvSpPr>
        <p:spPr>
          <a:xfrm>
            <a:off x="658368" y="612648"/>
            <a:ext cx="13121640" cy="50292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100" b="1">
                <a:solidFill>
                  <a:srgbClr val="2F2D29"/>
                </a:solidFill>
                <a:latin typeface="Arimo"/>
              </a:rPr>
              <a:t>Data Model &amp; Provenance</a:t>
            </a:r>
          </a:p>
        </p:txBody>
      </p:sp>
      <p:sp>
        <p:nvSpPr>
          <p:cNvPr id="7" name="TextBox 6"/>
          <p:cNvSpPr txBox="1"/>
          <p:nvPr/>
        </p:nvSpPr>
        <p:spPr>
          <a:xfrm>
            <a:off x="685800" y="1161288"/>
            <a:ext cx="1271016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50" b="0">
                <a:solidFill>
                  <a:srgbClr val="6B6861"/>
                </a:solidFill>
                <a:latin typeface="Arimo"/>
              </a:rPr>
              <a:t>13 SQLite tables grouped by responsibility; the repository owns request-path database access.</a:t>
            </a:r>
          </a:p>
        </p:txBody>
      </p:sp>
      <p:sp>
        <p:nvSpPr>
          <p:cNvPr id="8" name="Rectangle 7"/>
          <p:cNvSpPr/>
          <p:nvPr/>
        </p:nvSpPr>
        <p:spPr>
          <a:xfrm>
            <a:off x="685800" y="7626096"/>
            <a:ext cx="13258800" cy="10972"/>
          </a:xfrm>
          <a:prstGeom prst="rect">
            <a:avLst/>
          </a:prstGeom>
          <a:solidFill>
            <a:srgbClr val="CBD4D9"/>
          </a:solidFill>
          <a:ln>
            <a:noFill/>
          </a:ln>
        </p:spPr>
        <p:txBody>
          <a:bodyPr rtlCol="0" anchor="ctr"/>
          <a:lstStyle/>
          <a:p>
            <a:pPr algn="ctr"/>
          </a:p>
        </p:txBody>
      </p:sp>
      <p:sp>
        <p:nvSpPr>
          <p:cNvPr id="9" name="TextBox 8"/>
          <p:cNvSpPr txBox="1"/>
          <p:nvPr/>
        </p:nvSpPr>
        <p:spPr>
          <a:xfrm>
            <a:off x="685800" y="7754112"/>
            <a:ext cx="24688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CareSteps  |  Healthcare Challenge 2</a:t>
            </a:r>
          </a:p>
        </p:txBody>
      </p:sp>
      <p:sp>
        <p:nvSpPr>
          <p:cNvPr id="10" name="TextBox 9"/>
          <p:cNvSpPr txBox="1"/>
          <p:nvPr/>
        </p:nvSpPr>
        <p:spPr>
          <a:xfrm>
            <a:off x="3291840" y="7754112"/>
            <a:ext cx="88696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app/db.py: SCHEMA | app/repository.py: corrections, dedupe and audit</a:t>
            </a:r>
          </a:p>
        </p:txBody>
      </p:sp>
      <p:sp>
        <p:nvSpPr>
          <p:cNvPr id="11" name="TextBox 10"/>
          <p:cNvSpPr txBox="1"/>
          <p:nvPr/>
        </p:nvSpPr>
        <p:spPr>
          <a:xfrm>
            <a:off x="12966192" y="7726679"/>
            <a:ext cx="960120" cy="228600"/>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1000" b="0">
                <a:solidFill>
                  <a:srgbClr val="6B6861"/>
                </a:solidFill>
                <a:latin typeface="Arimo"/>
              </a:rPr>
              <a:t>07 / 09</a:t>
            </a:r>
          </a:p>
        </p:txBody>
      </p:sp>
      <p:sp>
        <p:nvSpPr>
          <p:cNvPr id="12" name="Rounded Rectangle 11"/>
          <p:cNvSpPr/>
          <p:nvPr/>
        </p:nvSpPr>
        <p:spPr>
          <a:xfrm>
            <a:off x="694944" y="1810512"/>
            <a:ext cx="8823960" cy="804672"/>
          </a:xfrm>
          <a:prstGeom prst="roundRect">
            <a:avLst/>
          </a:prstGeom>
          <a:solidFill>
            <a:srgbClr val="EEF5FB"/>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13" name="Rectangle 12"/>
          <p:cNvSpPr/>
          <p:nvPr/>
        </p:nvSpPr>
        <p:spPr>
          <a:xfrm>
            <a:off x="694944" y="1810512"/>
            <a:ext cx="50292" cy="804672"/>
          </a:xfrm>
          <a:prstGeom prst="rect">
            <a:avLst/>
          </a:prstGeom>
          <a:solidFill>
            <a:srgbClr val="0B61C9"/>
          </a:solidFill>
          <a:ln>
            <a:noFill/>
          </a:ln>
        </p:spPr>
        <p:txBody>
          <a:bodyPr rtlCol="0" anchor="ctr"/>
          <a:lstStyle/>
          <a:p>
            <a:pPr algn="ctr"/>
          </a:p>
        </p:txBody>
      </p:sp>
      <p:sp>
        <p:nvSpPr>
          <p:cNvPr id="14" name="TextBox 13"/>
          <p:cNvSpPr txBox="1"/>
          <p:nvPr/>
        </p:nvSpPr>
        <p:spPr>
          <a:xfrm>
            <a:off x="877824" y="1929384"/>
            <a:ext cx="8494776"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900" b="1">
                <a:solidFill>
                  <a:srgbClr val="2F2D29"/>
                </a:solidFill>
                <a:latin typeface="Arimo"/>
              </a:rPr>
              <a:t>user_profile</a:t>
            </a:r>
          </a:p>
        </p:txBody>
      </p:sp>
      <p:sp>
        <p:nvSpPr>
          <p:cNvPr id="15" name="TextBox 14"/>
          <p:cNvSpPr txBox="1"/>
          <p:nvPr/>
        </p:nvSpPr>
        <p:spPr>
          <a:xfrm>
            <a:off x="877824" y="2322576"/>
            <a:ext cx="8513064" cy="201167"/>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Profile, preferences and simulated-data marker</a:t>
            </a:r>
          </a:p>
        </p:txBody>
      </p:sp>
      <p:sp>
        <p:nvSpPr>
          <p:cNvPr id="16" name="Rounded Rectangle 15"/>
          <p:cNvSpPr/>
          <p:nvPr/>
        </p:nvSpPr>
        <p:spPr>
          <a:xfrm>
            <a:off x="694944" y="3017520"/>
            <a:ext cx="4069080" cy="3127248"/>
          </a:xfrm>
          <a:prstGeom prst="roundRect">
            <a:avLst/>
          </a:prstGeom>
          <a:solidFill>
            <a:srgbClr val="FFFFFF"/>
          </a:solidFill>
          <a:ln w="9525">
            <a:solidFill>
              <a:srgbClr val="138F98"/>
            </a:solidFill>
          </a:ln>
          <a:effectLst>
            <a:outerShdw blurRad="30000" dist="18000" dir="2700000" algn="ctr" rotWithShape="0">
              <a:srgbClr val="2F2D29">
                <a:alpha val="12000"/>
              </a:srgbClr>
            </a:outerShdw>
          </a:effectLst>
        </p:spPr>
        <p:txBody>
          <a:bodyPr rtlCol="0" anchor="ctr"/>
          <a:lstStyle/>
          <a:p>
            <a:pPr algn="ctr"/>
          </a:p>
        </p:txBody>
      </p:sp>
      <p:sp>
        <p:nvSpPr>
          <p:cNvPr id="17" name="TextBox 16"/>
          <p:cNvSpPr txBox="1"/>
          <p:nvPr/>
        </p:nvSpPr>
        <p:spPr>
          <a:xfrm>
            <a:off x="896112" y="3218688"/>
            <a:ext cx="3621024" cy="25603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138F98"/>
                </a:solidFill>
                <a:latin typeface="Arimo"/>
              </a:rPr>
              <a:t>HEALTH RECORDS</a:t>
            </a:r>
          </a:p>
        </p:txBody>
      </p:sp>
      <p:sp>
        <p:nvSpPr>
          <p:cNvPr id="18" name="Rectangle 17"/>
          <p:cNvSpPr/>
          <p:nvPr/>
        </p:nvSpPr>
        <p:spPr>
          <a:xfrm>
            <a:off x="896112" y="3730752"/>
            <a:ext cx="82296" cy="82296"/>
          </a:xfrm>
          <a:prstGeom prst="rect">
            <a:avLst/>
          </a:prstGeom>
          <a:solidFill>
            <a:srgbClr val="138F98"/>
          </a:solidFill>
          <a:ln>
            <a:noFill/>
          </a:ln>
        </p:spPr>
        <p:txBody>
          <a:bodyPr rtlCol="0" anchor="ctr"/>
          <a:lstStyle/>
          <a:p>
            <a:pPr algn="ctr"/>
          </a:p>
        </p:txBody>
      </p:sp>
      <p:sp>
        <p:nvSpPr>
          <p:cNvPr id="19" name="TextBox 18"/>
          <p:cNvSpPr txBox="1"/>
          <p:nvPr/>
        </p:nvSpPr>
        <p:spPr>
          <a:xfrm>
            <a:off x="1078992" y="3703320"/>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care_plan</a:t>
            </a:r>
          </a:p>
        </p:txBody>
      </p:sp>
      <p:sp>
        <p:nvSpPr>
          <p:cNvPr id="20" name="Rectangle 19"/>
          <p:cNvSpPr/>
          <p:nvPr/>
        </p:nvSpPr>
        <p:spPr>
          <a:xfrm>
            <a:off x="896112" y="4297680"/>
            <a:ext cx="82296" cy="82296"/>
          </a:xfrm>
          <a:prstGeom prst="rect">
            <a:avLst/>
          </a:prstGeom>
          <a:solidFill>
            <a:srgbClr val="138F98"/>
          </a:solidFill>
          <a:ln>
            <a:noFill/>
          </a:ln>
        </p:spPr>
        <p:txBody>
          <a:bodyPr rtlCol="0" anchor="ctr"/>
          <a:lstStyle/>
          <a:p>
            <a:pPr algn="ctr"/>
          </a:p>
        </p:txBody>
      </p:sp>
      <p:sp>
        <p:nvSpPr>
          <p:cNvPr id="21" name="TextBox 20"/>
          <p:cNvSpPr txBox="1"/>
          <p:nvPr/>
        </p:nvSpPr>
        <p:spPr>
          <a:xfrm>
            <a:off x="1078992" y="4270248"/>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medication_item</a:t>
            </a:r>
          </a:p>
        </p:txBody>
      </p:sp>
      <p:sp>
        <p:nvSpPr>
          <p:cNvPr id="22" name="Rectangle 21"/>
          <p:cNvSpPr/>
          <p:nvPr/>
        </p:nvSpPr>
        <p:spPr>
          <a:xfrm>
            <a:off x="896112" y="4864608"/>
            <a:ext cx="82296" cy="82296"/>
          </a:xfrm>
          <a:prstGeom prst="rect">
            <a:avLst/>
          </a:prstGeom>
          <a:solidFill>
            <a:srgbClr val="138F98"/>
          </a:solidFill>
          <a:ln>
            <a:noFill/>
          </a:ln>
        </p:spPr>
        <p:txBody>
          <a:bodyPr rtlCol="0" anchor="ctr"/>
          <a:lstStyle/>
          <a:p>
            <a:pPr algn="ctr"/>
          </a:p>
        </p:txBody>
      </p:sp>
      <p:sp>
        <p:nvSpPr>
          <p:cNvPr id="23" name="TextBox 22"/>
          <p:cNvSpPr txBox="1"/>
          <p:nvPr/>
        </p:nvSpPr>
        <p:spPr>
          <a:xfrm>
            <a:off x="1078992" y="4837176"/>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bp_reading</a:t>
            </a:r>
          </a:p>
        </p:txBody>
      </p:sp>
      <p:sp>
        <p:nvSpPr>
          <p:cNvPr id="24" name="Rectangle 23"/>
          <p:cNvSpPr/>
          <p:nvPr/>
        </p:nvSpPr>
        <p:spPr>
          <a:xfrm>
            <a:off x="896112" y="5431536"/>
            <a:ext cx="82296" cy="82296"/>
          </a:xfrm>
          <a:prstGeom prst="rect">
            <a:avLst/>
          </a:prstGeom>
          <a:solidFill>
            <a:srgbClr val="138F98"/>
          </a:solidFill>
          <a:ln>
            <a:noFill/>
          </a:ln>
        </p:spPr>
        <p:txBody>
          <a:bodyPr rtlCol="0" anchor="ctr"/>
          <a:lstStyle/>
          <a:p>
            <a:pPr algn="ctr"/>
          </a:p>
        </p:txBody>
      </p:sp>
      <p:sp>
        <p:nvSpPr>
          <p:cNvPr id="25" name="TextBox 24"/>
          <p:cNvSpPr txBox="1"/>
          <p:nvPr/>
        </p:nvSpPr>
        <p:spPr>
          <a:xfrm>
            <a:off x="1078992" y="5404103"/>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medication_report</a:t>
            </a:r>
          </a:p>
        </p:txBody>
      </p:sp>
      <p:sp>
        <p:nvSpPr>
          <p:cNvPr id="26" name="Rounded Rectangle 25"/>
          <p:cNvSpPr/>
          <p:nvPr/>
        </p:nvSpPr>
        <p:spPr>
          <a:xfrm>
            <a:off x="5276088" y="3017520"/>
            <a:ext cx="4069080" cy="3127248"/>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27" name="TextBox 26"/>
          <p:cNvSpPr txBox="1"/>
          <p:nvPr/>
        </p:nvSpPr>
        <p:spPr>
          <a:xfrm>
            <a:off x="5477255" y="3218688"/>
            <a:ext cx="3621024" cy="25603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0B61C9"/>
                </a:solidFill>
                <a:latin typeface="Arimo"/>
              </a:rPr>
              <a:t>SUPPORT + PREPARATION</a:t>
            </a:r>
          </a:p>
        </p:txBody>
      </p:sp>
      <p:sp>
        <p:nvSpPr>
          <p:cNvPr id="28" name="Rectangle 27"/>
          <p:cNvSpPr/>
          <p:nvPr/>
        </p:nvSpPr>
        <p:spPr>
          <a:xfrm>
            <a:off x="5477255" y="3730752"/>
            <a:ext cx="82296" cy="82296"/>
          </a:xfrm>
          <a:prstGeom prst="rect">
            <a:avLst/>
          </a:prstGeom>
          <a:solidFill>
            <a:srgbClr val="0B61C9"/>
          </a:solidFill>
          <a:ln>
            <a:noFill/>
          </a:ln>
        </p:spPr>
        <p:txBody>
          <a:bodyPr rtlCol="0" anchor="ctr"/>
          <a:lstStyle/>
          <a:p>
            <a:pPr algn="ctr"/>
          </a:p>
        </p:txBody>
      </p:sp>
      <p:sp>
        <p:nvSpPr>
          <p:cNvPr id="29" name="TextBox 28"/>
          <p:cNvSpPr txBox="1"/>
          <p:nvPr/>
        </p:nvSpPr>
        <p:spPr>
          <a:xfrm>
            <a:off x="5660136" y="3703320"/>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barrier_event</a:t>
            </a:r>
          </a:p>
        </p:txBody>
      </p:sp>
      <p:sp>
        <p:nvSpPr>
          <p:cNvPr id="30" name="Rectangle 29"/>
          <p:cNvSpPr/>
          <p:nvPr/>
        </p:nvSpPr>
        <p:spPr>
          <a:xfrm>
            <a:off x="5477255" y="4297680"/>
            <a:ext cx="82296" cy="82296"/>
          </a:xfrm>
          <a:prstGeom prst="rect">
            <a:avLst/>
          </a:prstGeom>
          <a:solidFill>
            <a:srgbClr val="0B61C9"/>
          </a:solidFill>
          <a:ln>
            <a:noFill/>
          </a:ln>
        </p:spPr>
        <p:txBody>
          <a:bodyPr rtlCol="0" anchor="ctr"/>
          <a:lstStyle/>
          <a:p>
            <a:pPr algn="ctr"/>
          </a:p>
        </p:txBody>
      </p:sp>
      <p:sp>
        <p:nvSpPr>
          <p:cNvPr id="31" name="TextBox 30"/>
          <p:cNvSpPr txBox="1"/>
          <p:nvPr/>
        </p:nvSpPr>
        <p:spPr>
          <a:xfrm>
            <a:off x="5660136" y="4270248"/>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support_action</a:t>
            </a:r>
          </a:p>
        </p:txBody>
      </p:sp>
      <p:sp>
        <p:nvSpPr>
          <p:cNvPr id="32" name="Rectangle 31"/>
          <p:cNvSpPr/>
          <p:nvPr/>
        </p:nvSpPr>
        <p:spPr>
          <a:xfrm>
            <a:off x="5477255" y="4864608"/>
            <a:ext cx="82296" cy="82296"/>
          </a:xfrm>
          <a:prstGeom prst="rect">
            <a:avLst/>
          </a:prstGeom>
          <a:solidFill>
            <a:srgbClr val="0B61C9"/>
          </a:solidFill>
          <a:ln>
            <a:noFill/>
          </a:ln>
        </p:spPr>
        <p:txBody>
          <a:bodyPr rtlCol="0" anchor="ctr"/>
          <a:lstStyle/>
          <a:p>
            <a:pPr algn="ctr"/>
          </a:p>
        </p:txBody>
      </p:sp>
      <p:sp>
        <p:nvSpPr>
          <p:cNvPr id="33" name="TextBox 32"/>
          <p:cNvSpPr txBox="1"/>
          <p:nvPr/>
        </p:nvSpPr>
        <p:spPr>
          <a:xfrm>
            <a:off x="5660136" y="4837176"/>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consultation_question</a:t>
            </a:r>
          </a:p>
        </p:txBody>
      </p:sp>
      <p:sp>
        <p:nvSpPr>
          <p:cNvPr id="34" name="Rectangle 33"/>
          <p:cNvSpPr/>
          <p:nvPr/>
        </p:nvSpPr>
        <p:spPr>
          <a:xfrm>
            <a:off x="5477255" y="5431536"/>
            <a:ext cx="82296" cy="82296"/>
          </a:xfrm>
          <a:prstGeom prst="rect">
            <a:avLst/>
          </a:prstGeom>
          <a:solidFill>
            <a:srgbClr val="0B61C9"/>
          </a:solidFill>
          <a:ln>
            <a:noFill/>
          </a:ln>
        </p:spPr>
        <p:txBody>
          <a:bodyPr rtlCol="0" anchor="ctr"/>
          <a:lstStyle/>
          <a:p>
            <a:pPr algn="ctr"/>
          </a:p>
        </p:txBody>
      </p:sp>
      <p:sp>
        <p:nvSpPr>
          <p:cNvPr id="35" name="TextBox 34"/>
          <p:cNvSpPr txBox="1"/>
          <p:nvPr/>
        </p:nvSpPr>
        <p:spPr>
          <a:xfrm>
            <a:off x="5660136" y="5404103"/>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visit_summary</a:t>
            </a:r>
          </a:p>
        </p:txBody>
      </p:sp>
      <p:sp>
        <p:nvSpPr>
          <p:cNvPr id="36" name="Rounded Rectangle 35"/>
          <p:cNvSpPr/>
          <p:nvPr/>
        </p:nvSpPr>
        <p:spPr>
          <a:xfrm>
            <a:off x="9857232" y="3017520"/>
            <a:ext cx="4069080" cy="3127248"/>
          </a:xfrm>
          <a:prstGeom prst="roundRect">
            <a:avLst/>
          </a:prstGeom>
          <a:solidFill>
            <a:srgbClr val="FFFFFF"/>
          </a:solidFill>
          <a:ln w="9525">
            <a:solidFill>
              <a:srgbClr val="A77722"/>
            </a:solidFill>
          </a:ln>
          <a:effectLst>
            <a:outerShdw blurRad="30000" dist="18000" dir="2700000" algn="ctr" rotWithShape="0">
              <a:srgbClr val="2F2D29">
                <a:alpha val="12000"/>
              </a:srgbClr>
            </a:outerShdw>
          </a:effectLst>
        </p:spPr>
        <p:txBody>
          <a:bodyPr rtlCol="0" anchor="ctr"/>
          <a:lstStyle/>
          <a:p>
            <a:pPr algn="ctr"/>
          </a:p>
        </p:txBody>
      </p:sp>
      <p:sp>
        <p:nvSpPr>
          <p:cNvPr id="37" name="TextBox 36"/>
          <p:cNvSpPr txBox="1"/>
          <p:nvPr/>
        </p:nvSpPr>
        <p:spPr>
          <a:xfrm>
            <a:off x="10058400" y="3218688"/>
            <a:ext cx="3621024" cy="25603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A77722"/>
                </a:solidFill>
                <a:latin typeface="Arimo"/>
              </a:rPr>
              <a:t>KNOWLEDGE + TRACE</a:t>
            </a:r>
          </a:p>
        </p:txBody>
      </p:sp>
      <p:sp>
        <p:nvSpPr>
          <p:cNvPr id="38" name="Rectangle 37"/>
          <p:cNvSpPr/>
          <p:nvPr/>
        </p:nvSpPr>
        <p:spPr>
          <a:xfrm>
            <a:off x="10058400" y="3730752"/>
            <a:ext cx="82296" cy="82296"/>
          </a:xfrm>
          <a:prstGeom prst="rect">
            <a:avLst/>
          </a:prstGeom>
          <a:solidFill>
            <a:srgbClr val="A77722"/>
          </a:solidFill>
          <a:ln>
            <a:noFill/>
          </a:ln>
        </p:spPr>
        <p:txBody>
          <a:bodyPr rtlCol="0" anchor="ctr"/>
          <a:lstStyle/>
          <a:p>
            <a:pPr algn="ctr"/>
          </a:p>
        </p:txBody>
      </p:sp>
      <p:sp>
        <p:nvSpPr>
          <p:cNvPr id="39" name="TextBox 38"/>
          <p:cNvSpPr txBox="1"/>
          <p:nvPr/>
        </p:nvSpPr>
        <p:spPr>
          <a:xfrm>
            <a:off x="10241280" y="3703320"/>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education_source</a:t>
            </a:r>
          </a:p>
        </p:txBody>
      </p:sp>
      <p:sp>
        <p:nvSpPr>
          <p:cNvPr id="40" name="Rectangle 39"/>
          <p:cNvSpPr/>
          <p:nvPr/>
        </p:nvSpPr>
        <p:spPr>
          <a:xfrm>
            <a:off x="10058400" y="4297680"/>
            <a:ext cx="82296" cy="82296"/>
          </a:xfrm>
          <a:prstGeom prst="rect">
            <a:avLst/>
          </a:prstGeom>
          <a:solidFill>
            <a:srgbClr val="A77722"/>
          </a:solidFill>
          <a:ln>
            <a:noFill/>
          </a:ln>
        </p:spPr>
        <p:txBody>
          <a:bodyPr rtlCol="0" anchor="ctr"/>
          <a:lstStyle/>
          <a:p>
            <a:pPr algn="ctr"/>
          </a:p>
        </p:txBody>
      </p:sp>
      <p:sp>
        <p:nvSpPr>
          <p:cNvPr id="41" name="TextBox 40"/>
          <p:cNvSpPr txBox="1"/>
          <p:nvPr/>
        </p:nvSpPr>
        <p:spPr>
          <a:xfrm>
            <a:off x="10241280" y="4270248"/>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education_fact</a:t>
            </a:r>
          </a:p>
        </p:txBody>
      </p:sp>
      <p:sp>
        <p:nvSpPr>
          <p:cNvPr id="42" name="Rectangle 41"/>
          <p:cNvSpPr/>
          <p:nvPr/>
        </p:nvSpPr>
        <p:spPr>
          <a:xfrm>
            <a:off x="10058400" y="4864608"/>
            <a:ext cx="82296" cy="82296"/>
          </a:xfrm>
          <a:prstGeom prst="rect">
            <a:avLst/>
          </a:prstGeom>
          <a:solidFill>
            <a:srgbClr val="A77722"/>
          </a:solidFill>
          <a:ln>
            <a:noFill/>
          </a:ln>
        </p:spPr>
        <p:txBody>
          <a:bodyPr rtlCol="0" anchor="ctr"/>
          <a:lstStyle/>
          <a:p>
            <a:pPr algn="ctr"/>
          </a:p>
        </p:txBody>
      </p:sp>
      <p:sp>
        <p:nvSpPr>
          <p:cNvPr id="43" name="TextBox 42"/>
          <p:cNvSpPr txBox="1"/>
          <p:nvPr/>
        </p:nvSpPr>
        <p:spPr>
          <a:xfrm>
            <a:off x="10241280" y="4837176"/>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conversation_message</a:t>
            </a:r>
          </a:p>
        </p:txBody>
      </p:sp>
      <p:sp>
        <p:nvSpPr>
          <p:cNvPr id="44" name="Rectangle 43"/>
          <p:cNvSpPr/>
          <p:nvPr/>
        </p:nvSpPr>
        <p:spPr>
          <a:xfrm>
            <a:off x="10058400" y="5431536"/>
            <a:ext cx="82296" cy="82296"/>
          </a:xfrm>
          <a:prstGeom prst="rect">
            <a:avLst/>
          </a:prstGeom>
          <a:solidFill>
            <a:srgbClr val="A77722"/>
          </a:solidFill>
          <a:ln>
            <a:noFill/>
          </a:ln>
        </p:spPr>
        <p:txBody>
          <a:bodyPr rtlCol="0" anchor="ctr"/>
          <a:lstStyle/>
          <a:p>
            <a:pPr algn="ctr"/>
          </a:p>
        </p:txBody>
      </p:sp>
      <p:sp>
        <p:nvSpPr>
          <p:cNvPr id="45" name="TextBox 44"/>
          <p:cNvSpPr txBox="1"/>
          <p:nvPr/>
        </p:nvSpPr>
        <p:spPr>
          <a:xfrm>
            <a:off x="10241280" y="5404103"/>
            <a:ext cx="3246120"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audit_event</a:t>
            </a:r>
          </a:p>
        </p:txBody>
      </p:sp>
      <p:cxnSp>
        <p:nvCxnSpPr>
          <p:cNvPr id="46" name="Connector 45"/>
          <p:cNvCxnSpPr/>
          <p:nvPr/>
        </p:nvCxnSpPr>
        <p:spPr>
          <a:xfrm>
            <a:off x="2788920" y="2651760"/>
            <a:ext cx="0" cy="320040"/>
          </a:xfrm>
          <a:prstGeom prst="line">
            <a:avLst/>
          </a:prstGeom>
          <a:ln w="21590">
            <a:solidFill>
              <a:srgbClr val="0B61C9"/>
            </a:solidFill>
            <a:tailEnd type="triangle" w="sm" len="sm"/>
          </a:ln>
        </p:spPr>
      </p:cxnSp>
      <p:cxnSp>
        <p:nvCxnSpPr>
          <p:cNvPr id="47" name="Connector 46"/>
          <p:cNvCxnSpPr/>
          <p:nvPr/>
        </p:nvCxnSpPr>
        <p:spPr>
          <a:xfrm>
            <a:off x="7360920" y="2651760"/>
            <a:ext cx="0" cy="320040"/>
          </a:xfrm>
          <a:prstGeom prst="line">
            <a:avLst/>
          </a:prstGeom>
          <a:ln w="21590">
            <a:solidFill>
              <a:srgbClr val="0B61C9"/>
            </a:solidFill>
            <a:tailEnd type="triangle" w="sm" len="sm"/>
          </a:ln>
        </p:spPr>
      </p:cxnSp>
      <p:sp>
        <p:nvSpPr>
          <p:cNvPr id="48" name="TextBox 47"/>
          <p:cNvSpPr txBox="1"/>
          <p:nvPr/>
        </p:nvSpPr>
        <p:spPr>
          <a:xfrm>
            <a:off x="713232" y="6364224"/>
            <a:ext cx="12801600" cy="25603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Preserved corrections  •  Unique dedupe keys  •  Source metadata  •  Audit events</a:t>
            </a:r>
          </a:p>
        </p:txBody>
      </p:sp>
      <p:sp>
        <p:nvSpPr>
          <p:cNvPr id="49" name="Rounded Rectangle 48"/>
          <p:cNvSpPr/>
          <p:nvPr/>
        </p:nvSpPr>
        <p:spPr>
          <a:xfrm>
            <a:off x="685800" y="6967728"/>
            <a:ext cx="13258800" cy="448056"/>
          </a:xfrm>
          <a:prstGeom prst="roundRect">
            <a:avLst/>
          </a:prstGeom>
          <a:solidFill>
            <a:srgbClr val="FAF3E5"/>
          </a:solidFill>
          <a:ln>
            <a:noFill/>
          </a:ln>
        </p:spPr>
        <p:txBody>
          <a:bodyPr rtlCol="0" anchor="ctr"/>
          <a:lstStyle/>
          <a:p>
            <a:pPr algn="ctr"/>
          </a:p>
        </p:txBody>
      </p:sp>
      <p:sp>
        <p:nvSpPr>
          <p:cNvPr id="50" name="Rectangle 49"/>
          <p:cNvSpPr/>
          <p:nvPr/>
        </p:nvSpPr>
        <p:spPr>
          <a:xfrm>
            <a:off x="850392" y="7123176"/>
            <a:ext cx="82296" cy="137160"/>
          </a:xfrm>
          <a:prstGeom prst="rect">
            <a:avLst/>
          </a:prstGeom>
          <a:solidFill>
            <a:srgbClr val="A77722"/>
          </a:solidFill>
          <a:ln>
            <a:noFill/>
          </a:ln>
        </p:spPr>
        <p:txBody>
          <a:bodyPr rtlCol="0" anchor="ctr"/>
          <a:lstStyle/>
          <a:p>
            <a:pPr algn="ctr"/>
          </a:p>
        </p:txBody>
      </p:sp>
      <p:sp>
        <p:nvSpPr>
          <p:cNvPr id="51" name="TextBox 50"/>
          <p:cNvSpPr txBox="1"/>
          <p:nvPr/>
        </p:nvSpPr>
        <p:spPr>
          <a:xfrm>
            <a:off x="1060704" y="7050024"/>
            <a:ext cx="12618720" cy="28346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A77722"/>
                </a:solidFill>
                <a:latin typeface="Arimo"/>
              </a:rPr>
              <a:t>Patient data is fictional and simulated; source checks do not equal clinical 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2_background.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658368" y="246888"/>
            <a:ext cx="256032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1">
                <a:solidFill>
                  <a:srgbClr val="6B6861"/>
                </a:solidFill>
                <a:latin typeface="Arimo"/>
              </a:rPr>
              <a:t>CARESteps  /  ARCHITECTURE</a:t>
            </a:r>
          </a:p>
        </p:txBody>
      </p:sp>
      <p:sp>
        <p:nvSpPr>
          <p:cNvPr id="4" name="Rectangle 3"/>
          <p:cNvSpPr/>
          <p:nvPr/>
        </p:nvSpPr>
        <p:spPr>
          <a:xfrm>
            <a:off x="2331720" y="347472"/>
            <a:ext cx="9464040" cy="10972"/>
          </a:xfrm>
          <a:prstGeom prst="rect">
            <a:avLst/>
          </a:prstGeom>
          <a:solidFill>
            <a:srgbClr val="CBD4D9"/>
          </a:solidFill>
          <a:ln>
            <a:noFill/>
          </a:ln>
        </p:spPr>
        <p:txBody>
          <a:bodyPr rtlCol="0" anchor="ctr"/>
          <a:lstStyle/>
          <a:p>
            <a:pPr algn="ctr"/>
          </a:p>
        </p:txBody>
      </p:sp>
      <p:sp>
        <p:nvSpPr>
          <p:cNvPr id="5" name="TextBox 4"/>
          <p:cNvSpPr txBox="1"/>
          <p:nvPr/>
        </p:nvSpPr>
        <p:spPr>
          <a:xfrm>
            <a:off x="12435840" y="246888"/>
            <a:ext cx="1508760" cy="201168"/>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900" b="0">
                <a:solidFill>
                  <a:srgbClr val="6B6861"/>
                </a:solidFill>
                <a:latin typeface="Arimo"/>
              </a:rPr>
              <a:t>16 OCT 2026</a:t>
            </a:r>
          </a:p>
        </p:txBody>
      </p:sp>
      <p:sp>
        <p:nvSpPr>
          <p:cNvPr id="6" name="TextBox 5"/>
          <p:cNvSpPr txBox="1"/>
          <p:nvPr/>
        </p:nvSpPr>
        <p:spPr>
          <a:xfrm>
            <a:off x="658368" y="612648"/>
            <a:ext cx="13121640" cy="50292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100" b="1">
                <a:solidFill>
                  <a:srgbClr val="2F2D29"/>
                </a:solidFill>
                <a:latin typeface="Arimo"/>
              </a:rPr>
              <a:t>Prompting, Grounding &amp; Traceability</a:t>
            </a:r>
          </a:p>
        </p:txBody>
      </p:sp>
      <p:sp>
        <p:nvSpPr>
          <p:cNvPr id="7" name="TextBox 6"/>
          <p:cNvSpPr txBox="1"/>
          <p:nvPr/>
        </p:nvSpPr>
        <p:spPr>
          <a:xfrm>
            <a:off x="685800" y="1161288"/>
            <a:ext cx="1271016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50" b="0">
                <a:solidFill>
                  <a:srgbClr val="6B6861"/>
                </a:solidFill>
                <a:latin typeface="Arimo"/>
              </a:rPr>
              <a:t>The prompt sets tone and limits; deterministic code controls routing, tools, calculations and checks.</a:t>
            </a:r>
          </a:p>
        </p:txBody>
      </p:sp>
      <p:sp>
        <p:nvSpPr>
          <p:cNvPr id="8" name="Rectangle 7"/>
          <p:cNvSpPr/>
          <p:nvPr/>
        </p:nvSpPr>
        <p:spPr>
          <a:xfrm>
            <a:off x="685800" y="7626096"/>
            <a:ext cx="13258800" cy="10972"/>
          </a:xfrm>
          <a:prstGeom prst="rect">
            <a:avLst/>
          </a:prstGeom>
          <a:solidFill>
            <a:srgbClr val="CBD4D9"/>
          </a:solidFill>
          <a:ln>
            <a:noFill/>
          </a:ln>
        </p:spPr>
        <p:txBody>
          <a:bodyPr rtlCol="0" anchor="ctr"/>
          <a:lstStyle/>
          <a:p>
            <a:pPr algn="ctr"/>
          </a:p>
        </p:txBody>
      </p:sp>
      <p:sp>
        <p:nvSpPr>
          <p:cNvPr id="9" name="TextBox 8"/>
          <p:cNvSpPr txBox="1"/>
          <p:nvPr/>
        </p:nvSpPr>
        <p:spPr>
          <a:xfrm>
            <a:off x="685800" y="7754112"/>
            <a:ext cx="24688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CareSteps  |  Healthcare Challenge 2</a:t>
            </a:r>
          </a:p>
        </p:txBody>
      </p:sp>
      <p:sp>
        <p:nvSpPr>
          <p:cNvPr id="10" name="TextBox 9"/>
          <p:cNvSpPr txBox="1"/>
          <p:nvPr/>
        </p:nvSpPr>
        <p:spPr>
          <a:xfrm>
            <a:off x="3291840" y="7754112"/>
            <a:ext cx="88696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app/llm/prompts.py | app/llm/orchestrator.py | app/main.py: /trace</a:t>
            </a:r>
          </a:p>
        </p:txBody>
      </p:sp>
      <p:sp>
        <p:nvSpPr>
          <p:cNvPr id="11" name="TextBox 10"/>
          <p:cNvSpPr txBox="1"/>
          <p:nvPr/>
        </p:nvSpPr>
        <p:spPr>
          <a:xfrm>
            <a:off x="12966192" y="7726679"/>
            <a:ext cx="960120" cy="228600"/>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1000" b="0">
                <a:solidFill>
                  <a:srgbClr val="6B6861"/>
                </a:solidFill>
                <a:latin typeface="Arimo"/>
              </a:rPr>
              <a:t>08 / 09</a:t>
            </a:r>
          </a:p>
        </p:txBody>
      </p:sp>
      <p:sp>
        <p:nvSpPr>
          <p:cNvPr id="12" name="Rounded Rectangle 11"/>
          <p:cNvSpPr/>
          <p:nvPr/>
        </p:nvSpPr>
        <p:spPr>
          <a:xfrm>
            <a:off x="694944" y="1938528"/>
            <a:ext cx="2834640" cy="1216152"/>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13" name="Rectangle 12"/>
          <p:cNvSpPr/>
          <p:nvPr/>
        </p:nvSpPr>
        <p:spPr>
          <a:xfrm>
            <a:off x="694944" y="1938528"/>
            <a:ext cx="50292" cy="1216152"/>
          </a:xfrm>
          <a:prstGeom prst="rect">
            <a:avLst/>
          </a:prstGeom>
          <a:solidFill>
            <a:srgbClr val="0B61C9"/>
          </a:solidFill>
          <a:ln>
            <a:noFill/>
          </a:ln>
        </p:spPr>
        <p:txBody>
          <a:bodyPr rtlCol="0" anchor="ctr"/>
          <a:lstStyle/>
          <a:p>
            <a:pPr algn="ctr"/>
          </a:p>
        </p:txBody>
      </p:sp>
      <p:sp>
        <p:nvSpPr>
          <p:cNvPr id="14" name="TextBox 13"/>
          <p:cNvSpPr txBox="1"/>
          <p:nvPr/>
        </p:nvSpPr>
        <p:spPr>
          <a:xfrm>
            <a:off x="877824" y="2057400"/>
            <a:ext cx="2505456"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System prompt</a:t>
            </a:r>
          </a:p>
        </p:txBody>
      </p:sp>
      <p:sp>
        <p:nvSpPr>
          <p:cNvPr id="15" name="TextBox 14"/>
          <p:cNvSpPr txBox="1"/>
          <p:nvPr/>
        </p:nvSpPr>
        <p:spPr>
          <a:xfrm>
            <a:off x="877824" y="2450592"/>
            <a:ext cx="2523744" cy="6126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Role, tone, limits</a:t>
            </a:r>
          </a:p>
          <a:p>
            <a:pPr algn="l">
              <a:lnSpc>
                <a:spcPct val="108000"/>
              </a:lnSpc>
              <a:spcBef>
                <a:spcPts val="0"/>
              </a:spcBef>
              <a:spcAft>
                <a:spcPts val="200"/>
              </a:spcAft>
            </a:pPr>
            <a:r>
              <a:rPr sz="1400" b="0">
                <a:solidFill>
                  <a:srgbClr val="6B6861"/>
                </a:solidFill>
                <a:latin typeface="Arimo"/>
              </a:rPr>
              <a:t>caresteps.system.v3</a:t>
            </a:r>
          </a:p>
        </p:txBody>
      </p:sp>
      <p:cxnSp>
        <p:nvCxnSpPr>
          <p:cNvPr id="16" name="Connector 15"/>
          <p:cNvCxnSpPr/>
          <p:nvPr/>
        </p:nvCxnSpPr>
        <p:spPr>
          <a:xfrm>
            <a:off x="3566160" y="2542032"/>
            <a:ext cx="512064" cy="0"/>
          </a:xfrm>
          <a:prstGeom prst="line">
            <a:avLst/>
          </a:prstGeom>
          <a:ln w="21590">
            <a:solidFill>
              <a:srgbClr val="0B61C9"/>
            </a:solidFill>
            <a:tailEnd type="triangle" w="sm" len="sm"/>
          </a:ln>
        </p:spPr>
      </p:cxnSp>
      <p:sp>
        <p:nvSpPr>
          <p:cNvPr id="17" name="Rounded Rectangle 16"/>
          <p:cNvSpPr/>
          <p:nvPr/>
        </p:nvSpPr>
        <p:spPr>
          <a:xfrm>
            <a:off x="4142232" y="1938528"/>
            <a:ext cx="2834640" cy="1216152"/>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18" name="Rectangle 17"/>
          <p:cNvSpPr/>
          <p:nvPr/>
        </p:nvSpPr>
        <p:spPr>
          <a:xfrm>
            <a:off x="4142232" y="1938528"/>
            <a:ext cx="50292" cy="1216152"/>
          </a:xfrm>
          <a:prstGeom prst="rect">
            <a:avLst/>
          </a:prstGeom>
          <a:solidFill>
            <a:srgbClr val="0B61C9"/>
          </a:solidFill>
          <a:ln>
            <a:noFill/>
          </a:ln>
        </p:spPr>
        <p:txBody>
          <a:bodyPr rtlCol="0" anchor="ctr"/>
          <a:lstStyle/>
          <a:p>
            <a:pPr algn="ctr"/>
          </a:p>
        </p:txBody>
      </p:sp>
      <p:sp>
        <p:nvSpPr>
          <p:cNvPr id="19" name="TextBox 18"/>
          <p:cNvSpPr txBox="1"/>
          <p:nvPr/>
        </p:nvSpPr>
        <p:spPr>
          <a:xfrm>
            <a:off x="4325112" y="2057400"/>
            <a:ext cx="2505456"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Minimal context</a:t>
            </a:r>
          </a:p>
        </p:txBody>
      </p:sp>
      <p:sp>
        <p:nvSpPr>
          <p:cNvPr id="20" name="TextBox 19"/>
          <p:cNvSpPr txBox="1"/>
          <p:nvPr/>
        </p:nvSpPr>
        <p:spPr>
          <a:xfrm>
            <a:off x="4325112" y="2450592"/>
            <a:ext cx="2523744" cy="6126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Profile + latest</a:t>
            </a:r>
          </a:p>
          <a:p>
            <a:pPr algn="l">
              <a:lnSpc>
                <a:spcPct val="108000"/>
              </a:lnSpc>
              <a:spcBef>
                <a:spcPts val="0"/>
              </a:spcBef>
              <a:spcAft>
                <a:spcPts val="200"/>
              </a:spcAft>
            </a:pPr>
            <a:r>
              <a:rPr sz="1400" b="0">
                <a:solidFill>
                  <a:srgbClr val="6B6861"/>
                </a:solidFill>
                <a:latin typeface="Arimo"/>
              </a:rPr>
              <a:t>12 messages</a:t>
            </a:r>
          </a:p>
        </p:txBody>
      </p:sp>
      <p:cxnSp>
        <p:nvCxnSpPr>
          <p:cNvPr id="21" name="Connector 20"/>
          <p:cNvCxnSpPr/>
          <p:nvPr/>
        </p:nvCxnSpPr>
        <p:spPr>
          <a:xfrm>
            <a:off x="7013448" y="2542032"/>
            <a:ext cx="512064" cy="0"/>
          </a:xfrm>
          <a:prstGeom prst="line">
            <a:avLst/>
          </a:prstGeom>
          <a:ln w="21590">
            <a:solidFill>
              <a:srgbClr val="0B61C9"/>
            </a:solidFill>
            <a:tailEnd type="triangle" w="sm" len="sm"/>
          </a:ln>
        </p:spPr>
      </p:cxnSp>
      <p:sp>
        <p:nvSpPr>
          <p:cNvPr id="22" name="Rounded Rectangle 21"/>
          <p:cNvSpPr/>
          <p:nvPr/>
        </p:nvSpPr>
        <p:spPr>
          <a:xfrm>
            <a:off x="7589520" y="1938528"/>
            <a:ext cx="2834640" cy="1216152"/>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23" name="Rectangle 22"/>
          <p:cNvSpPr/>
          <p:nvPr/>
        </p:nvSpPr>
        <p:spPr>
          <a:xfrm>
            <a:off x="7589520" y="1938528"/>
            <a:ext cx="50292" cy="1216152"/>
          </a:xfrm>
          <a:prstGeom prst="rect">
            <a:avLst/>
          </a:prstGeom>
          <a:solidFill>
            <a:srgbClr val="0B61C9"/>
          </a:solidFill>
          <a:ln>
            <a:noFill/>
          </a:ln>
        </p:spPr>
        <p:txBody>
          <a:bodyPr rtlCol="0" anchor="ctr"/>
          <a:lstStyle/>
          <a:p>
            <a:pPr algn="ctr"/>
          </a:p>
        </p:txBody>
      </p:sp>
      <p:sp>
        <p:nvSpPr>
          <p:cNvPr id="24" name="TextBox 23"/>
          <p:cNvSpPr txBox="1"/>
          <p:nvPr/>
        </p:nvSpPr>
        <p:spPr>
          <a:xfrm>
            <a:off x="7772400" y="2057400"/>
            <a:ext cx="2505456"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Bounded tool loop</a:t>
            </a:r>
          </a:p>
        </p:txBody>
      </p:sp>
      <p:sp>
        <p:nvSpPr>
          <p:cNvPr id="25" name="TextBox 24"/>
          <p:cNvSpPr txBox="1"/>
          <p:nvPr/>
        </p:nvSpPr>
        <p:spPr>
          <a:xfrm>
            <a:off x="7772400" y="2450592"/>
            <a:ext cx="2523744" cy="6126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Named operations</a:t>
            </a:r>
          </a:p>
          <a:p>
            <a:pPr algn="l">
              <a:lnSpc>
                <a:spcPct val="108000"/>
              </a:lnSpc>
              <a:spcBef>
                <a:spcPts val="0"/>
              </a:spcBef>
              <a:spcAft>
                <a:spcPts val="200"/>
              </a:spcAft>
            </a:pPr>
            <a:r>
              <a:rPr sz="1400" b="0">
                <a:solidFill>
                  <a:srgbClr val="6B6861"/>
                </a:solidFill>
                <a:latin typeface="Arimo"/>
              </a:rPr>
              <a:t>Default: 4 rounds</a:t>
            </a:r>
          </a:p>
        </p:txBody>
      </p:sp>
      <p:cxnSp>
        <p:nvCxnSpPr>
          <p:cNvPr id="26" name="Connector 25"/>
          <p:cNvCxnSpPr/>
          <p:nvPr/>
        </p:nvCxnSpPr>
        <p:spPr>
          <a:xfrm>
            <a:off x="10460736" y="2542032"/>
            <a:ext cx="512064" cy="0"/>
          </a:xfrm>
          <a:prstGeom prst="line">
            <a:avLst/>
          </a:prstGeom>
          <a:ln w="21590">
            <a:solidFill>
              <a:srgbClr val="0B61C9"/>
            </a:solidFill>
            <a:tailEnd type="triangle" w="sm" len="sm"/>
          </a:ln>
        </p:spPr>
      </p:cxnSp>
      <p:sp>
        <p:nvSpPr>
          <p:cNvPr id="27" name="Rounded Rectangle 26"/>
          <p:cNvSpPr/>
          <p:nvPr/>
        </p:nvSpPr>
        <p:spPr>
          <a:xfrm>
            <a:off x="11036808" y="1938528"/>
            <a:ext cx="2834640" cy="1216152"/>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28" name="Rectangle 27"/>
          <p:cNvSpPr/>
          <p:nvPr/>
        </p:nvSpPr>
        <p:spPr>
          <a:xfrm>
            <a:off x="11036808" y="1938528"/>
            <a:ext cx="50292" cy="1216152"/>
          </a:xfrm>
          <a:prstGeom prst="rect">
            <a:avLst/>
          </a:prstGeom>
          <a:solidFill>
            <a:srgbClr val="0B61C9"/>
          </a:solidFill>
          <a:ln>
            <a:noFill/>
          </a:ln>
        </p:spPr>
        <p:txBody>
          <a:bodyPr rtlCol="0" anchor="ctr"/>
          <a:lstStyle/>
          <a:p>
            <a:pPr algn="ctr"/>
          </a:p>
        </p:txBody>
      </p:sp>
      <p:sp>
        <p:nvSpPr>
          <p:cNvPr id="29" name="TextBox 28"/>
          <p:cNvSpPr txBox="1"/>
          <p:nvPr/>
        </p:nvSpPr>
        <p:spPr>
          <a:xfrm>
            <a:off x="11219688" y="2057400"/>
            <a:ext cx="2505456" cy="310896"/>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800" b="1">
                <a:solidFill>
                  <a:srgbClr val="2F2D29"/>
                </a:solidFill>
                <a:latin typeface="Arimo"/>
              </a:rPr>
              <a:t>Live output check</a:t>
            </a:r>
          </a:p>
        </p:txBody>
      </p:sp>
      <p:sp>
        <p:nvSpPr>
          <p:cNvPr id="30" name="TextBox 29"/>
          <p:cNvSpPr txBox="1"/>
          <p:nvPr/>
        </p:nvSpPr>
        <p:spPr>
          <a:xfrm>
            <a:off x="11219688" y="2450592"/>
            <a:ext cx="2523744" cy="6126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Known numbers + phrases</a:t>
            </a:r>
          </a:p>
          <a:p>
            <a:pPr algn="l">
              <a:lnSpc>
                <a:spcPct val="108000"/>
              </a:lnSpc>
              <a:spcBef>
                <a:spcPts val="0"/>
              </a:spcBef>
              <a:spcAft>
                <a:spcPts val="200"/>
              </a:spcAft>
            </a:pPr>
            <a:r>
              <a:rPr sz="1400" b="0">
                <a:solidFill>
                  <a:srgbClr val="6B6861"/>
                </a:solidFill>
                <a:latin typeface="Arimo"/>
              </a:rPr>
              <a:t>Replace on failure</a:t>
            </a:r>
          </a:p>
        </p:txBody>
      </p:sp>
      <p:sp>
        <p:nvSpPr>
          <p:cNvPr id="31" name="Rounded Rectangle 30"/>
          <p:cNvSpPr/>
          <p:nvPr/>
        </p:nvSpPr>
        <p:spPr>
          <a:xfrm>
            <a:off x="694944" y="3803904"/>
            <a:ext cx="6199632" cy="2103120"/>
          </a:xfrm>
          <a:prstGeom prst="roundRect">
            <a:avLst/>
          </a:prstGeom>
          <a:solidFill>
            <a:srgbClr val="FFFFFF"/>
          </a:solidFill>
          <a:ln w="9525">
            <a:solidFill>
              <a:srgbClr val="0B61C9"/>
            </a:solidFill>
          </a:ln>
          <a:effectLst>
            <a:outerShdw blurRad="30000" dist="18000" dir="2700000" algn="ctr" rotWithShape="0">
              <a:srgbClr val="2F2D29">
                <a:alpha val="12000"/>
              </a:srgbClr>
            </a:outerShdw>
          </a:effectLst>
        </p:spPr>
        <p:txBody>
          <a:bodyPr rtlCol="0" anchor="ctr"/>
          <a:lstStyle/>
          <a:p>
            <a:pPr algn="ctr"/>
          </a:p>
        </p:txBody>
      </p:sp>
      <p:sp>
        <p:nvSpPr>
          <p:cNvPr id="32" name="TextBox 31"/>
          <p:cNvSpPr txBox="1"/>
          <p:nvPr/>
        </p:nvSpPr>
        <p:spPr>
          <a:xfrm>
            <a:off x="932688" y="4041648"/>
            <a:ext cx="5687568" cy="25603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0B61C9"/>
                </a:solidFill>
                <a:latin typeface="Arimo"/>
              </a:rPr>
              <a:t>PROMPT POLICY SUMMARY</a:t>
            </a:r>
          </a:p>
        </p:txBody>
      </p:sp>
      <p:sp>
        <p:nvSpPr>
          <p:cNvPr id="33" name="Rectangle 32"/>
          <p:cNvSpPr/>
          <p:nvPr/>
        </p:nvSpPr>
        <p:spPr>
          <a:xfrm>
            <a:off x="1042416" y="4599432"/>
            <a:ext cx="91440" cy="91440"/>
          </a:xfrm>
          <a:prstGeom prst="rect">
            <a:avLst/>
          </a:prstGeom>
          <a:solidFill>
            <a:srgbClr val="0B61C9"/>
          </a:solidFill>
          <a:ln>
            <a:noFill/>
          </a:ln>
        </p:spPr>
        <p:txBody>
          <a:bodyPr rtlCol="0" anchor="ctr"/>
          <a:lstStyle/>
          <a:p>
            <a:pPr algn="ctr"/>
          </a:p>
        </p:txBody>
      </p:sp>
      <p:sp>
        <p:nvSpPr>
          <p:cNvPr id="34" name="TextBox 33"/>
          <p:cNvSpPr txBox="1"/>
          <p:nvPr/>
        </p:nvSpPr>
        <p:spPr>
          <a:xfrm>
            <a:off x="1243584" y="4544568"/>
            <a:ext cx="5230368"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Numbers: use tool results</a:t>
            </a:r>
          </a:p>
        </p:txBody>
      </p:sp>
      <p:sp>
        <p:nvSpPr>
          <p:cNvPr id="35" name="Rectangle 34"/>
          <p:cNvSpPr/>
          <p:nvPr/>
        </p:nvSpPr>
        <p:spPr>
          <a:xfrm>
            <a:off x="1042416" y="4956048"/>
            <a:ext cx="91440" cy="91440"/>
          </a:xfrm>
          <a:prstGeom prst="rect">
            <a:avLst/>
          </a:prstGeom>
          <a:solidFill>
            <a:srgbClr val="0B61C9"/>
          </a:solidFill>
          <a:ln>
            <a:noFill/>
          </a:ln>
        </p:spPr>
        <p:txBody>
          <a:bodyPr rtlCol="0" anchor="ctr"/>
          <a:lstStyle/>
          <a:p>
            <a:pPr algn="ctr"/>
          </a:p>
        </p:txBody>
      </p:sp>
      <p:sp>
        <p:nvSpPr>
          <p:cNvPr id="36" name="TextBox 35"/>
          <p:cNvSpPr txBox="1"/>
          <p:nvPr/>
        </p:nvSpPr>
        <p:spPr>
          <a:xfrm>
            <a:off x="1243584" y="4901184"/>
            <a:ext cx="5230368"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Education: retrieve, then cite</a:t>
            </a:r>
          </a:p>
        </p:txBody>
      </p:sp>
      <p:sp>
        <p:nvSpPr>
          <p:cNvPr id="37" name="Rectangle 36"/>
          <p:cNvSpPr/>
          <p:nvPr/>
        </p:nvSpPr>
        <p:spPr>
          <a:xfrm>
            <a:off x="1042416" y="5312664"/>
            <a:ext cx="91440" cy="91440"/>
          </a:xfrm>
          <a:prstGeom prst="rect">
            <a:avLst/>
          </a:prstGeom>
          <a:solidFill>
            <a:srgbClr val="0B61C9"/>
          </a:solidFill>
          <a:ln>
            <a:noFill/>
          </a:ln>
        </p:spPr>
        <p:txBody>
          <a:bodyPr rtlCol="0" anchor="ctr"/>
          <a:lstStyle/>
          <a:p>
            <a:pPr algn="ctr"/>
          </a:p>
        </p:txBody>
      </p:sp>
      <p:sp>
        <p:nvSpPr>
          <p:cNvPr id="38" name="TextBox 37"/>
          <p:cNvSpPr txBox="1"/>
          <p:nvPr/>
        </p:nvSpPr>
        <p:spPr>
          <a:xfrm>
            <a:off x="1243584" y="5257800"/>
            <a:ext cx="5230368"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Unknowns: ask or defer</a:t>
            </a:r>
          </a:p>
        </p:txBody>
      </p:sp>
      <p:sp>
        <p:nvSpPr>
          <p:cNvPr id="39" name="Rectangle 38"/>
          <p:cNvSpPr/>
          <p:nvPr/>
        </p:nvSpPr>
        <p:spPr>
          <a:xfrm>
            <a:off x="1042416" y="5669280"/>
            <a:ext cx="91440" cy="91440"/>
          </a:xfrm>
          <a:prstGeom prst="rect">
            <a:avLst/>
          </a:prstGeom>
          <a:solidFill>
            <a:srgbClr val="0B61C9"/>
          </a:solidFill>
          <a:ln>
            <a:noFill/>
          </a:ln>
        </p:spPr>
        <p:txBody>
          <a:bodyPr rtlCol="0" anchor="ctr"/>
          <a:lstStyle/>
          <a:p>
            <a:pPr algn="ctr"/>
          </a:p>
        </p:txBody>
      </p:sp>
      <p:sp>
        <p:nvSpPr>
          <p:cNvPr id="40" name="TextBox 39"/>
          <p:cNvSpPr txBox="1"/>
          <p:nvPr/>
        </p:nvSpPr>
        <p:spPr>
          <a:xfrm>
            <a:off x="1243584" y="5614416"/>
            <a:ext cx="5230368"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Medication changes: refuse</a:t>
            </a:r>
          </a:p>
        </p:txBody>
      </p:sp>
      <p:sp>
        <p:nvSpPr>
          <p:cNvPr id="41" name="Rounded Rectangle 40"/>
          <p:cNvSpPr/>
          <p:nvPr/>
        </p:nvSpPr>
        <p:spPr>
          <a:xfrm>
            <a:off x="7315200" y="3803904"/>
            <a:ext cx="6620256" cy="2103120"/>
          </a:xfrm>
          <a:prstGeom prst="roundRect">
            <a:avLst/>
          </a:prstGeom>
          <a:solidFill>
            <a:srgbClr val="EAF7F5"/>
          </a:solidFill>
          <a:ln w="9525">
            <a:solidFill>
              <a:srgbClr val="138F98"/>
            </a:solidFill>
          </a:ln>
          <a:effectLst>
            <a:outerShdw blurRad="30000" dist="18000" dir="2700000" algn="ctr" rotWithShape="0">
              <a:srgbClr val="2F2D29">
                <a:alpha val="12000"/>
              </a:srgbClr>
            </a:outerShdw>
          </a:effectLst>
        </p:spPr>
        <p:txBody>
          <a:bodyPr rtlCol="0" anchor="ctr"/>
          <a:lstStyle/>
          <a:p>
            <a:pPr algn="ctr"/>
          </a:p>
        </p:txBody>
      </p:sp>
      <p:sp>
        <p:nvSpPr>
          <p:cNvPr id="42" name="TextBox 41"/>
          <p:cNvSpPr txBox="1"/>
          <p:nvPr/>
        </p:nvSpPr>
        <p:spPr>
          <a:xfrm>
            <a:off x="7552944" y="4041648"/>
            <a:ext cx="6035040" cy="256032"/>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1">
                <a:solidFill>
                  <a:srgbClr val="138F98"/>
                </a:solidFill>
                <a:latin typeface="Arimo"/>
              </a:rPr>
              <a:t>INSPECTABLE AT /trace</a:t>
            </a:r>
          </a:p>
        </p:txBody>
      </p:sp>
      <p:sp>
        <p:nvSpPr>
          <p:cNvPr id="43" name="Rectangle 42"/>
          <p:cNvSpPr/>
          <p:nvPr/>
        </p:nvSpPr>
        <p:spPr>
          <a:xfrm>
            <a:off x="7662671" y="4599432"/>
            <a:ext cx="91440" cy="91440"/>
          </a:xfrm>
          <a:prstGeom prst="rect">
            <a:avLst/>
          </a:prstGeom>
          <a:solidFill>
            <a:srgbClr val="138F98"/>
          </a:solidFill>
          <a:ln>
            <a:noFill/>
          </a:ln>
        </p:spPr>
        <p:txBody>
          <a:bodyPr rtlCol="0" anchor="ctr"/>
          <a:lstStyle/>
          <a:p>
            <a:pPr algn="ctr"/>
          </a:p>
        </p:txBody>
      </p:sp>
      <p:sp>
        <p:nvSpPr>
          <p:cNvPr id="44" name="TextBox 43"/>
          <p:cNvSpPr txBox="1"/>
          <p:nvPr/>
        </p:nvSpPr>
        <p:spPr>
          <a:xfrm>
            <a:off x="7863840" y="4544568"/>
            <a:ext cx="5632704"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Active contracts + provider status</a:t>
            </a:r>
          </a:p>
        </p:txBody>
      </p:sp>
      <p:sp>
        <p:nvSpPr>
          <p:cNvPr id="45" name="Rectangle 44"/>
          <p:cNvSpPr/>
          <p:nvPr/>
        </p:nvSpPr>
        <p:spPr>
          <a:xfrm>
            <a:off x="7662671" y="4956048"/>
            <a:ext cx="91440" cy="91440"/>
          </a:xfrm>
          <a:prstGeom prst="rect">
            <a:avLst/>
          </a:prstGeom>
          <a:solidFill>
            <a:srgbClr val="138F98"/>
          </a:solidFill>
          <a:ln>
            <a:noFill/>
          </a:ln>
        </p:spPr>
        <p:txBody>
          <a:bodyPr rtlCol="0" anchor="ctr"/>
          <a:lstStyle/>
          <a:p>
            <a:pPr algn="ctr"/>
          </a:p>
        </p:txBody>
      </p:sp>
      <p:sp>
        <p:nvSpPr>
          <p:cNvPr id="46" name="TextBox 45"/>
          <p:cNvSpPr txBox="1"/>
          <p:nvPr/>
        </p:nvSpPr>
        <p:spPr>
          <a:xfrm>
            <a:off x="7863840" y="4901184"/>
            <a:ext cx="5632704"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Rule version + source IDs</a:t>
            </a:r>
          </a:p>
        </p:txBody>
      </p:sp>
      <p:sp>
        <p:nvSpPr>
          <p:cNvPr id="47" name="Rectangle 46"/>
          <p:cNvSpPr/>
          <p:nvPr/>
        </p:nvSpPr>
        <p:spPr>
          <a:xfrm>
            <a:off x="7662671" y="5312664"/>
            <a:ext cx="91440" cy="91440"/>
          </a:xfrm>
          <a:prstGeom prst="rect">
            <a:avLst/>
          </a:prstGeom>
          <a:solidFill>
            <a:srgbClr val="138F98"/>
          </a:solidFill>
          <a:ln>
            <a:noFill/>
          </a:ln>
        </p:spPr>
        <p:txBody>
          <a:bodyPr rtlCol="0" anchor="ctr"/>
          <a:lstStyle/>
          <a:p>
            <a:pPr algn="ctr"/>
          </a:p>
        </p:txBody>
      </p:sp>
      <p:sp>
        <p:nvSpPr>
          <p:cNvPr id="48" name="TextBox 47"/>
          <p:cNvSpPr txBox="1"/>
          <p:nvPr/>
        </p:nvSpPr>
        <p:spPr>
          <a:xfrm>
            <a:off x="7863840" y="5257800"/>
            <a:ext cx="5632704"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Prompt version + fingerprint</a:t>
            </a:r>
          </a:p>
        </p:txBody>
      </p:sp>
      <p:sp>
        <p:nvSpPr>
          <p:cNvPr id="49" name="Rectangle 48"/>
          <p:cNvSpPr/>
          <p:nvPr/>
        </p:nvSpPr>
        <p:spPr>
          <a:xfrm>
            <a:off x="7662671" y="5669280"/>
            <a:ext cx="91440" cy="91440"/>
          </a:xfrm>
          <a:prstGeom prst="rect">
            <a:avLst/>
          </a:prstGeom>
          <a:solidFill>
            <a:srgbClr val="138F98"/>
          </a:solidFill>
          <a:ln>
            <a:noFill/>
          </a:ln>
        </p:spPr>
        <p:txBody>
          <a:bodyPr rtlCol="0" anchor="ctr"/>
          <a:lstStyle/>
          <a:p>
            <a:pPr algn="ctr"/>
          </a:p>
        </p:txBody>
      </p:sp>
      <p:sp>
        <p:nvSpPr>
          <p:cNvPr id="50" name="TextBox 49"/>
          <p:cNvSpPr txBox="1"/>
          <p:nvPr/>
        </p:nvSpPr>
        <p:spPr>
          <a:xfrm>
            <a:off x="7863840" y="5614416"/>
            <a:ext cx="5632704" cy="23774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300" b="0">
                <a:solidFill>
                  <a:srgbClr val="2F2D29"/>
                </a:solidFill>
                <a:latin typeface="Arimo"/>
              </a:rPr>
              <a:t>Tool outcomes + response mode</a:t>
            </a:r>
          </a:p>
        </p:txBody>
      </p:sp>
      <p:sp>
        <p:nvSpPr>
          <p:cNvPr id="51" name="Rounded Rectangle 50"/>
          <p:cNvSpPr/>
          <p:nvPr/>
        </p:nvSpPr>
        <p:spPr>
          <a:xfrm>
            <a:off x="685800" y="6967728"/>
            <a:ext cx="13258800" cy="448056"/>
          </a:xfrm>
          <a:prstGeom prst="roundRect">
            <a:avLst/>
          </a:prstGeom>
          <a:solidFill>
            <a:srgbClr val="FAF3E5"/>
          </a:solidFill>
          <a:ln>
            <a:noFill/>
          </a:ln>
        </p:spPr>
        <p:txBody>
          <a:bodyPr rtlCol="0" anchor="ctr"/>
          <a:lstStyle/>
          <a:p>
            <a:pPr algn="ctr"/>
          </a:p>
        </p:txBody>
      </p:sp>
      <p:sp>
        <p:nvSpPr>
          <p:cNvPr id="52" name="Rectangle 51"/>
          <p:cNvSpPr/>
          <p:nvPr/>
        </p:nvSpPr>
        <p:spPr>
          <a:xfrm>
            <a:off x="850392" y="7123176"/>
            <a:ext cx="82296" cy="137160"/>
          </a:xfrm>
          <a:prstGeom prst="rect">
            <a:avLst/>
          </a:prstGeom>
          <a:solidFill>
            <a:srgbClr val="A77722"/>
          </a:solidFill>
          <a:ln>
            <a:noFill/>
          </a:ln>
        </p:spPr>
        <p:txBody>
          <a:bodyPr rtlCol="0" anchor="ctr"/>
          <a:lstStyle/>
          <a:p>
            <a:pPr algn="ctr"/>
          </a:p>
        </p:txBody>
      </p:sp>
      <p:sp>
        <p:nvSpPr>
          <p:cNvPr id="53" name="TextBox 52"/>
          <p:cNvSpPr txBox="1"/>
          <p:nvPr/>
        </p:nvSpPr>
        <p:spPr>
          <a:xfrm>
            <a:off x="1060704" y="7050024"/>
            <a:ext cx="12618720" cy="28346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00" b="0">
                <a:solidFill>
                  <a:srgbClr val="A77722"/>
                </a:solidFill>
                <a:latin typeface="Arimo"/>
              </a:rPr>
              <a:t>Output checks are grounding heuristics; they do not provide clinical validation.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2_background.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658368" y="246888"/>
            <a:ext cx="2560320"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1">
                <a:solidFill>
                  <a:srgbClr val="6B6861"/>
                </a:solidFill>
                <a:latin typeface="Arimo"/>
              </a:rPr>
              <a:t>CARESteps  /  ARCHITECTURE</a:t>
            </a:r>
          </a:p>
        </p:txBody>
      </p:sp>
      <p:sp>
        <p:nvSpPr>
          <p:cNvPr id="4" name="Rectangle 3"/>
          <p:cNvSpPr/>
          <p:nvPr/>
        </p:nvSpPr>
        <p:spPr>
          <a:xfrm>
            <a:off x="2331720" y="347472"/>
            <a:ext cx="9464040" cy="10972"/>
          </a:xfrm>
          <a:prstGeom prst="rect">
            <a:avLst/>
          </a:prstGeom>
          <a:solidFill>
            <a:srgbClr val="CBD4D9"/>
          </a:solidFill>
          <a:ln>
            <a:noFill/>
          </a:ln>
        </p:spPr>
        <p:txBody>
          <a:bodyPr rtlCol="0" anchor="ctr"/>
          <a:lstStyle/>
          <a:p>
            <a:pPr algn="ctr"/>
          </a:p>
        </p:txBody>
      </p:sp>
      <p:sp>
        <p:nvSpPr>
          <p:cNvPr id="5" name="TextBox 4"/>
          <p:cNvSpPr txBox="1"/>
          <p:nvPr/>
        </p:nvSpPr>
        <p:spPr>
          <a:xfrm>
            <a:off x="12435840" y="246888"/>
            <a:ext cx="1508760" cy="201168"/>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900" b="0">
                <a:solidFill>
                  <a:srgbClr val="6B6861"/>
                </a:solidFill>
                <a:latin typeface="Arimo"/>
              </a:rPr>
              <a:t>16 OCT 2026</a:t>
            </a:r>
          </a:p>
        </p:txBody>
      </p:sp>
      <p:sp>
        <p:nvSpPr>
          <p:cNvPr id="6" name="TextBox 5"/>
          <p:cNvSpPr txBox="1"/>
          <p:nvPr/>
        </p:nvSpPr>
        <p:spPr>
          <a:xfrm>
            <a:off x="658368" y="612648"/>
            <a:ext cx="13121640" cy="50292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3100" b="1">
                <a:solidFill>
                  <a:srgbClr val="2F2D29"/>
                </a:solidFill>
                <a:latin typeface="Arimo"/>
              </a:rPr>
              <a:t>Key Design Trade-offs &amp; Prototype Limits</a:t>
            </a:r>
          </a:p>
        </p:txBody>
      </p:sp>
      <p:sp>
        <p:nvSpPr>
          <p:cNvPr id="7" name="TextBox 6"/>
          <p:cNvSpPr txBox="1"/>
          <p:nvPr/>
        </p:nvSpPr>
        <p:spPr>
          <a:xfrm>
            <a:off x="685800" y="1161288"/>
            <a:ext cx="12710160" cy="38404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550" b="0">
                <a:solidFill>
                  <a:srgbClr val="6B6861"/>
                </a:solidFill>
                <a:latin typeface="Arimo"/>
              </a:rPr>
              <a:t>Each constraint makes the local prototype easier to inspect and leaves a clear production task.</a:t>
            </a:r>
          </a:p>
        </p:txBody>
      </p:sp>
      <p:sp>
        <p:nvSpPr>
          <p:cNvPr id="8" name="Rectangle 7"/>
          <p:cNvSpPr/>
          <p:nvPr/>
        </p:nvSpPr>
        <p:spPr>
          <a:xfrm>
            <a:off x="685800" y="7626096"/>
            <a:ext cx="13258800" cy="10972"/>
          </a:xfrm>
          <a:prstGeom prst="rect">
            <a:avLst/>
          </a:prstGeom>
          <a:solidFill>
            <a:srgbClr val="CBD4D9"/>
          </a:solidFill>
          <a:ln>
            <a:noFill/>
          </a:ln>
        </p:spPr>
        <p:txBody>
          <a:bodyPr rtlCol="0" anchor="ctr"/>
          <a:lstStyle/>
          <a:p>
            <a:pPr algn="ctr"/>
          </a:p>
        </p:txBody>
      </p:sp>
      <p:sp>
        <p:nvSpPr>
          <p:cNvPr id="9" name="TextBox 8"/>
          <p:cNvSpPr txBox="1"/>
          <p:nvPr/>
        </p:nvSpPr>
        <p:spPr>
          <a:xfrm>
            <a:off x="685800" y="7754112"/>
            <a:ext cx="24688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CareSteps  |  Healthcare Challenge 2</a:t>
            </a:r>
          </a:p>
        </p:txBody>
      </p:sp>
      <p:sp>
        <p:nvSpPr>
          <p:cNvPr id="10" name="TextBox 9"/>
          <p:cNvSpPr txBox="1"/>
          <p:nvPr/>
        </p:nvSpPr>
        <p:spPr>
          <a:xfrm>
            <a:off x="3291840" y="7754112"/>
            <a:ext cx="8869680" cy="18288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900" b="0">
                <a:solidFill>
                  <a:srgbClr val="6B6861"/>
                </a:solidFill>
                <a:latin typeface="Arimo"/>
              </a:rPr>
              <a:t>Handbook p. 35 | docs/decisions.md | Source assertions checked against current app/ code</a:t>
            </a:r>
          </a:p>
        </p:txBody>
      </p:sp>
      <p:sp>
        <p:nvSpPr>
          <p:cNvPr id="11" name="TextBox 10"/>
          <p:cNvSpPr txBox="1"/>
          <p:nvPr/>
        </p:nvSpPr>
        <p:spPr>
          <a:xfrm>
            <a:off x="12966192" y="7726679"/>
            <a:ext cx="960120" cy="228600"/>
          </a:xfrm>
          <a:prstGeom prst="rect">
            <a:avLst/>
          </a:prstGeom>
          <a:noFill/>
        </p:spPr>
        <p:txBody>
          <a:bodyPr wrap="square" lIns="13716" rIns="13716" tIns="13716" bIns="13716" anchor="t">
            <a:noAutofit/>
          </a:bodyPr>
          <a:lstStyle/>
          <a:p>
            <a:pPr algn="r">
              <a:lnSpc>
                <a:spcPct val="108000"/>
              </a:lnSpc>
              <a:spcBef>
                <a:spcPts val="0"/>
              </a:spcBef>
              <a:spcAft>
                <a:spcPts val="200"/>
              </a:spcAft>
            </a:pPr>
            <a:r>
              <a:rPr sz="1000" b="0">
                <a:solidFill>
                  <a:srgbClr val="6B6861"/>
                </a:solidFill>
                <a:latin typeface="Arimo"/>
              </a:rPr>
              <a:t>09 / 09</a:t>
            </a:r>
          </a:p>
        </p:txBody>
      </p:sp>
      <p:sp>
        <p:nvSpPr>
          <p:cNvPr id="12" name="Rounded Rectangle 11"/>
          <p:cNvSpPr/>
          <p:nvPr/>
        </p:nvSpPr>
        <p:spPr>
          <a:xfrm>
            <a:off x="694944" y="1810512"/>
            <a:ext cx="3703320" cy="429768"/>
          </a:xfrm>
          <a:prstGeom prst="roundRect">
            <a:avLst/>
          </a:prstGeom>
          <a:solidFill>
            <a:srgbClr val="0B61C9"/>
          </a:solidFill>
          <a:ln>
            <a:noFill/>
          </a:ln>
        </p:spPr>
        <p:txBody>
          <a:bodyPr rtlCol="0" anchor="ctr"/>
          <a:lstStyle/>
          <a:p>
            <a:pPr algn="ctr"/>
          </a:p>
        </p:txBody>
      </p:sp>
      <p:sp>
        <p:nvSpPr>
          <p:cNvPr id="13" name="TextBox 12"/>
          <p:cNvSpPr txBox="1"/>
          <p:nvPr/>
        </p:nvSpPr>
        <p:spPr>
          <a:xfrm>
            <a:off x="859536" y="1920240"/>
            <a:ext cx="3374136"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200" b="1">
                <a:solidFill>
                  <a:srgbClr val="FFFFFF"/>
                </a:solidFill>
                <a:latin typeface="Arimo"/>
              </a:rPr>
              <a:t>CHOICE</a:t>
            </a:r>
          </a:p>
        </p:txBody>
      </p:sp>
      <p:sp>
        <p:nvSpPr>
          <p:cNvPr id="14" name="Rounded Rectangle 13"/>
          <p:cNvSpPr/>
          <p:nvPr/>
        </p:nvSpPr>
        <p:spPr>
          <a:xfrm>
            <a:off x="4498848" y="1810512"/>
            <a:ext cx="4160520" cy="429768"/>
          </a:xfrm>
          <a:prstGeom prst="roundRect">
            <a:avLst/>
          </a:prstGeom>
          <a:solidFill>
            <a:srgbClr val="138F98"/>
          </a:solidFill>
          <a:ln>
            <a:noFill/>
          </a:ln>
        </p:spPr>
        <p:txBody>
          <a:bodyPr rtlCol="0" anchor="ctr"/>
          <a:lstStyle/>
          <a:p>
            <a:pPr algn="ctr"/>
          </a:p>
        </p:txBody>
      </p:sp>
      <p:sp>
        <p:nvSpPr>
          <p:cNvPr id="15" name="TextBox 14"/>
          <p:cNvSpPr txBox="1"/>
          <p:nvPr/>
        </p:nvSpPr>
        <p:spPr>
          <a:xfrm>
            <a:off x="4663440" y="1920240"/>
            <a:ext cx="3831335"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200" b="1">
                <a:solidFill>
                  <a:srgbClr val="FFFFFF"/>
                </a:solidFill>
                <a:latin typeface="Arimo"/>
              </a:rPr>
              <a:t>WHY IT HELPS</a:t>
            </a:r>
          </a:p>
        </p:txBody>
      </p:sp>
      <p:sp>
        <p:nvSpPr>
          <p:cNvPr id="16" name="Rounded Rectangle 15"/>
          <p:cNvSpPr/>
          <p:nvPr/>
        </p:nvSpPr>
        <p:spPr>
          <a:xfrm>
            <a:off x="8732520" y="1810512"/>
            <a:ext cx="5212080" cy="429768"/>
          </a:xfrm>
          <a:prstGeom prst="roundRect">
            <a:avLst/>
          </a:prstGeom>
          <a:solidFill>
            <a:srgbClr val="3B2561"/>
          </a:solidFill>
          <a:ln>
            <a:noFill/>
          </a:ln>
        </p:spPr>
        <p:txBody>
          <a:bodyPr rtlCol="0" anchor="ctr"/>
          <a:lstStyle/>
          <a:p>
            <a:pPr algn="ctr"/>
          </a:p>
        </p:txBody>
      </p:sp>
      <p:sp>
        <p:nvSpPr>
          <p:cNvPr id="17" name="TextBox 16"/>
          <p:cNvSpPr txBox="1"/>
          <p:nvPr/>
        </p:nvSpPr>
        <p:spPr>
          <a:xfrm>
            <a:off x="8897112" y="1920240"/>
            <a:ext cx="4882896" cy="201168"/>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200" b="1">
                <a:solidFill>
                  <a:srgbClr val="FFFFFF"/>
                </a:solidFill>
                <a:latin typeface="Arimo"/>
              </a:rPr>
              <a:t>COST / NEXT STEP</a:t>
            </a:r>
          </a:p>
        </p:txBody>
      </p:sp>
      <p:sp>
        <p:nvSpPr>
          <p:cNvPr id="18" name="Rectangle 17"/>
          <p:cNvSpPr/>
          <p:nvPr/>
        </p:nvSpPr>
        <p:spPr>
          <a:xfrm>
            <a:off x="694944" y="2359152"/>
            <a:ext cx="3703320" cy="685800"/>
          </a:xfrm>
          <a:prstGeom prst="rect">
            <a:avLst/>
          </a:prstGeom>
          <a:solidFill>
            <a:srgbClr val="FFFFFF"/>
          </a:solidFill>
          <a:ln>
            <a:noFill/>
          </a:ln>
        </p:spPr>
        <p:txBody>
          <a:bodyPr rtlCol="0" anchor="ctr"/>
          <a:lstStyle/>
          <a:p>
            <a:pPr algn="ctr"/>
          </a:p>
        </p:txBody>
      </p:sp>
      <p:sp>
        <p:nvSpPr>
          <p:cNvPr id="19" name="TextBox 18"/>
          <p:cNvSpPr txBox="1"/>
          <p:nvPr/>
        </p:nvSpPr>
        <p:spPr>
          <a:xfrm>
            <a:off x="859536" y="2496312"/>
            <a:ext cx="3374136"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1">
                <a:solidFill>
                  <a:srgbClr val="2F2D29"/>
                </a:solidFill>
                <a:latin typeface="Arimo"/>
              </a:rPr>
              <a:t>Deterministic gates first</a:t>
            </a:r>
          </a:p>
        </p:txBody>
      </p:sp>
      <p:sp>
        <p:nvSpPr>
          <p:cNvPr id="20" name="Rectangle 19"/>
          <p:cNvSpPr/>
          <p:nvPr/>
        </p:nvSpPr>
        <p:spPr>
          <a:xfrm>
            <a:off x="4498848" y="2359152"/>
            <a:ext cx="4160520" cy="685800"/>
          </a:xfrm>
          <a:prstGeom prst="rect">
            <a:avLst/>
          </a:prstGeom>
          <a:solidFill>
            <a:srgbClr val="FFFFFF"/>
          </a:solidFill>
          <a:ln>
            <a:noFill/>
          </a:ln>
        </p:spPr>
        <p:txBody>
          <a:bodyPr rtlCol="0" anchor="ctr"/>
          <a:lstStyle/>
          <a:p>
            <a:pPr algn="ctr"/>
          </a:p>
        </p:txBody>
      </p:sp>
      <p:sp>
        <p:nvSpPr>
          <p:cNvPr id="21" name="TextBox 20"/>
          <p:cNvSpPr txBox="1"/>
          <p:nvPr/>
        </p:nvSpPr>
        <p:spPr>
          <a:xfrm>
            <a:off x="4663440" y="2496312"/>
            <a:ext cx="3831335"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2F2D29"/>
                </a:solidFill>
                <a:latin typeface="Arimo"/>
              </a:rPr>
              <a:t>Immediate, inspectable safety routing</a:t>
            </a:r>
          </a:p>
        </p:txBody>
      </p:sp>
      <p:sp>
        <p:nvSpPr>
          <p:cNvPr id="22" name="Rectangle 21"/>
          <p:cNvSpPr/>
          <p:nvPr/>
        </p:nvSpPr>
        <p:spPr>
          <a:xfrm>
            <a:off x="8732520" y="2359152"/>
            <a:ext cx="5212080" cy="685800"/>
          </a:xfrm>
          <a:prstGeom prst="rect">
            <a:avLst/>
          </a:prstGeom>
          <a:solidFill>
            <a:srgbClr val="FFFFFF"/>
          </a:solidFill>
          <a:ln>
            <a:noFill/>
          </a:ln>
        </p:spPr>
        <p:txBody>
          <a:bodyPr rtlCol="0" anchor="ctr"/>
          <a:lstStyle/>
          <a:p>
            <a:pPr algn="ctr"/>
          </a:p>
        </p:txBody>
      </p:sp>
      <p:sp>
        <p:nvSpPr>
          <p:cNvPr id="23" name="TextBox 22"/>
          <p:cNvSpPr txBox="1"/>
          <p:nvPr/>
        </p:nvSpPr>
        <p:spPr>
          <a:xfrm>
            <a:off x="8897112" y="2496312"/>
            <a:ext cx="4882896"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Expand clinical review + rule coverage</a:t>
            </a:r>
          </a:p>
        </p:txBody>
      </p:sp>
      <p:sp>
        <p:nvSpPr>
          <p:cNvPr id="24" name="Rectangle 23"/>
          <p:cNvSpPr/>
          <p:nvPr/>
        </p:nvSpPr>
        <p:spPr>
          <a:xfrm>
            <a:off x="694944" y="3127248"/>
            <a:ext cx="3703320" cy="685800"/>
          </a:xfrm>
          <a:prstGeom prst="rect">
            <a:avLst/>
          </a:prstGeom>
          <a:solidFill>
            <a:srgbClr val="F2F0EC"/>
          </a:solidFill>
          <a:ln>
            <a:noFill/>
          </a:ln>
        </p:spPr>
        <p:txBody>
          <a:bodyPr rtlCol="0" anchor="ctr"/>
          <a:lstStyle/>
          <a:p>
            <a:pPr algn="ctr"/>
          </a:p>
        </p:txBody>
      </p:sp>
      <p:sp>
        <p:nvSpPr>
          <p:cNvPr id="25" name="TextBox 24"/>
          <p:cNvSpPr txBox="1"/>
          <p:nvPr/>
        </p:nvSpPr>
        <p:spPr>
          <a:xfrm>
            <a:off x="859536" y="3264408"/>
            <a:ext cx="3374136"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1">
                <a:solidFill>
                  <a:srgbClr val="2F2D29"/>
                </a:solidFill>
                <a:latin typeface="Arimo"/>
              </a:rPr>
              <a:t>SQLite + local browser assets</a:t>
            </a:r>
          </a:p>
        </p:txBody>
      </p:sp>
      <p:sp>
        <p:nvSpPr>
          <p:cNvPr id="26" name="Rectangle 25"/>
          <p:cNvSpPr/>
          <p:nvPr/>
        </p:nvSpPr>
        <p:spPr>
          <a:xfrm>
            <a:off x="4498848" y="3127248"/>
            <a:ext cx="4160520" cy="685800"/>
          </a:xfrm>
          <a:prstGeom prst="rect">
            <a:avLst/>
          </a:prstGeom>
          <a:solidFill>
            <a:srgbClr val="F2F0EC"/>
          </a:solidFill>
          <a:ln>
            <a:noFill/>
          </a:ln>
        </p:spPr>
        <p:txBody>
          <a:bodyPr rtlCol="0" anchor="ctr"/>
          <a:lstStyle/>
          <a:p>
            <a:pPr algn="ctr"/>
          </a:p>
        </p:txBody>
      </p:sp>
      <p:sp>
        <p:nvSpPr>
          <p:cNvPr id="27" name="TextBox 26"/>
          <p:cNvSpPr txBox="1"/>
          <p:nvPr/>
        </p:nvSpPr>
        <p:spPr>
          <a:xfrm>
            <a:off x="4663440" y="3264408"/>
            <a:ext cx="3831335"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2F2D29"/>
                </a:solidFill>
                <a:latin typeface="Arimo"/>
              </a:rPr>
              <a:t>One-process, reproducible demo</a:t>
            </a:r>
          </a:p>
        </p:txBody>
      </p:sp>
      <p:sp>
        <p:nvSpPr>
          <p:cNvPr id="28" name="Rectangle 27"/>
          <p:cNvSpPr/>
          <p:nvPr/>
        </p:nvSpPr>
        <p:spPr>
          <a:xfrm>
            <a:off x="8732520" y="3127248"/>
            <a:ext cx="5212080" cy="685800"/>
          </a:xfrm>
          <a:prstGeom prst="rect">
            <a:avLst/>
          </a:prstGeom>
          <a:solidFill>
            <a:srgbClr val="F2F0EC"/>
          </a:solidFill>
          <a:ln>
            <a:noFill/>
          </a:ln>
        </p:spPr>
        <p:txBody>
          <a:bodyPr rtlCol="0" anchor="ctr"/>
          <a:lstStyle/>
          <a:p>
            <a:pPr algn="ctr"/>
          </a:p>
        </p:txBody>
      </p:sp>
      <p:sp>
        <p:nvSpPr>
          <p:cNvPr id="29" name="TextBox 28"/>
          <p:cNvSpPr txBox="1"/>
          <p:nvPr/>
        </p:nvSpPr>
        <p:spPr>
          <a:xfrm>
            <a:off x="8897112" y="3264408"/>
            <a:ext cx="4882896"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Add auth, encryption and scaling</a:t>
            </a:r>
          </a:p>
        </p:txBody>
      </p:sp>
      <p:sp>
        <p:nvSpPr>
          <p:cNvPr id="30" name="Rectangle 29"/>
          <p:cNvSpPr/>
          <p:nvPr/>
        </p:nvSpPr>
        <p:spPr>
          <a:xfrm>
            <a:off x="694944" y="3895344"/>
            <a:ext cx="3703320" cy="685800"/>
          </a:xfrm>
          <a:prstGeom prst="rect">
            <a:avLst/>
          </a:prstGeom>
          <a:solidFill>
            <a:srgbClr val="FFFFFF"/>
          </a:solidFill>
          <a:ln>
            <a:noFill/>
          </a:ln>
        </p:spPr>
        <p:txBody>
          <a:bodyPr rtlCol="0" anchor="ctr"/>
          <a:lstStyle/>
          <a:p>
            <a:pPr algn="ctr"/>
          </a:p>
        </p:txBody>
      </p:sp>
      <p:sp>
        <p:nvSpPr>
          <p:cNvPr id="31" name="TextBox 30"/>
          <p:cNvSpPr txBox="1"/>
          <p:nvPr/>
        </p:nvSpPr>
        <p:spPr>
          <a:xfrm>
            <a:off x="859536" y="4032504"/>
            <a:ext cx="3374136"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1">
                <a:solidFill>
                  <a:srgbClr val="2F2D29"/>
                </a:solidFill>
                <a:latin typeface="Arimo"/>
              </a:rPr>
              <a:t>Scoped tools + confirm flow</a:t>
            </a:r>
          </a:p>
        </p:txBody>
      </p:sp>
      <p:sp>
        <p:nvSpPr>
          <p:cNvPr id="32" name="Rectangle 31"/>
          <p:cNvSpPr/>
          <p:nvPr/>
        </p:nvSpPr>
        <p:spPr>
          <a:xfrm>
            <a:off x="4498848" y="3895344"/>
            <a:ext cx="4160520" cy="685800"/>
          </a:xfrm>
          <a:prstGeom prst="rect">
            <a:avLst/>
          </a:prstGeom>
          <a:solidFill>
            <a:srgbClr val="FFFFFF"/>
          </a:solidFill>
          <a:ln>
            <a:noFill/>
          </a:ln>
        </p:spPr>
        <p:txBody>
          <a:bodyPr rtlCol="0" anchor="ctr"/>
          <a:lstStyle/>
          <a:p>
            <a:pPr algn="ctr"/>
          </a:p>
        </p:txBody>
      </p:sp>
      <p:sp>
        <p:nvSpPr>
          <p:cNvPr id="33" name="TextBox 32"/>
          <p:cNvSpPr txBox="1"/>
          <p:nvPr/>
        </p:nvSpPr>
        <p:spPr>
          <a:xfrm>
            <a:off x="4663440" y="4032504"/>
            <a:ext cx="3831335"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2F2D29"/>
                </a:solidFill>
                <a:latin typeface="Arimo"/>
              </a:rPr>
              <a:t>Validated operations + visible drafts</a:t>
            </a:r>
          </a:p>
        </p:txBody>
      </p:sp>
      <p:sp>
        <p:nvSpPr>
          <p:cNvPr id="34" name="Rectangle 33"/>
          <p:cNvSpPr/>
          <p:nvPr/>
        </p:nvSpPr>
        <p:spPr>
          <a:xfrm>
            <a:off x="8732520" y="3895344"/>
            <a:ext cx="5212080" cy="685800"/>
          </a:xfrm>
          <a:prstGeom prst="rect">
            <a:avLst/>
          </a:prstGeom>
          <a:solidFill>
            <a:srgbClr val="FFFFFF"/>
          </a:solidFill>
          <a:ln>
            <a:noFill/>
          </a:ln>
        </p:spPr>
        <p:txBody>
          <a:bodyPr rtlCol="0" anchor="ctr"/>
          <a:lstStyle/>
          <a:p>
            <a:pPr algn="ctr"/>
          </a:p>
        </p:txBody>
      </p:sp>
      <p:sp>
        <p:nvSpPr>
          <p:cNvPr id="35" name="TextBox 34"/>
          <p:cNvSpPr txBox="1"/>
          <p:nvPr/>
        </p:nvSpPr>
        <p:spPr>
          <a:xfrm>
            <a:off x="8897112" y="4032504"/>
            <a:ext cx="4882896"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Add atomic turn boundaries</a:t>
            </a:r>
          </a:p>
        </p:txBody>
      </p:sp>
      <p:sp>
        <p:nvSpPr>
          <p:cNvPr id="36" name="Rectangle 35"/>
          <p:cNvSpPr/>
          <p:nvPr/>
        </p:nvSpPr>
        <p:spPr>
          <a:xfrm>
            <a:off x="694944" y="4663440"/>
            <a:ext cx="3703320" cy="685800"/>
          </a:xfrm>
          <a:prstGeom prst="rect">
            <a:avLst/>
          </a:prstGeom>
          <a:solidFill>
            <a:srgbClr val="F2F0EC"/>
          </a:solidFill>
          <a:ln>
            <a:noFill/>
          </a:ln>
        </p:spPr>
        <p:txBody>
          <a:bodyPr rtlCol="0" anchor="ctr"/>
          <a:lstStyle/>
          <a:p>
            <a:pPr algn="ctr"/>
          </a:p>
        </p:txBody>
      </p:sp>
      <p:sp>
        <p:nvSpPr>
          <p:cNvPr id="37" name="TextBox 36"/>
          <p:cNvSpPr txBox="1"/>
          <p:nvPr/>
        </p:nvSpPr>
        <p:spPr>
          <a:xfrm>
            <a:off x="859536" y="4800600"/>
            <a:ext cx="3374136"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1">
                <a:solidFill>
                  <a:srgbClr val="2F2D29"/>
                </a:solidFill>
                <a:latin typeface="Arimo"/>
              </a:rPr>
              <a:t>Optional model endpoint</a:t>
            </a:r>
          </a:p>
        </p:txBody>
      </p:sp>
      <p:sp>
        <p:nvSpPr>
          <p:cNvPr id="38" name="Rectangle 37"/>
          <p:cNvSpPr/>
          <p:nvPr/>
        </p:nvSpPr>
        <p:spPr>
          <a:xfrm>
            <a:off x="4498848" y="4663440"/>
            <a:ext cx="4160520" cy="685800"/>
          </a:xfrm>
          <a:prstGeom prst="rect">
            <a:avLst/>
          </a:prstGeom>
          <a:solidFill>
            <a:srgbClr val="F2F0EC"/>
          </a:solidFill>
          <a:ln>
            <a:noFill/>
          </a:ln>
        </p:spPr>
        <p:txBody>
          <a:bodyPr rtlCol="0" anchor="ctr"/>
          <a:lstStyle/>
          <a:p>
            <a:pPr algn="ctr"/>
          </a:p>
        </p:txBody>
      </p:sp>
      <p:sp>
        <p:nvSpPr>
          <p:cNvPr id="39" name="TextBox 38"/>
          <p:cNvSpPr txBox="1"/>
          <p:nvPr/>
        </p:nvSpPr>
        <p:spPr>
          <a:xfrm>
            <a:off x="4663440" y="4800600"/>
            <a:ext cx="3831335"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2F2D29"/>
                </a:solidFill>
                <a:latin typeface="Arimo"/>
              </a:rPr>
              <a:t>Core workflows survive downtime</a:t>
            </a:r>
          </a:p>
        </p:txBody>
      </p:sp>
      <p:sp>
        <p:nvSpPr>
          <p:cNvPr id="40" name="Rectangle 39"/>
          <p:cNvSpPr/>
          <p:nvPr/>
        </p:nvSpPr>
        <p:spPr>
          <a:xfrm>
            <a:off x="8732520" y="4663440"/>
            <a:ext cx="5212080" cy="685800"/>
          </a:xfrm>
          <a:prstGeom prst="rect">
            <a:avLst/>
          </a:prstGeom>
          <a:solidFill>
            <a:srgbClr val="F2F0EC"/>
          </a:solidFill>
          <a:ln>
            <a:noFill/>
          </a:ln>
        </p:spPr>
        <p:txBody>
          <a:bodyPr rtlCol="0" anchor="ctr"/>
          <a:lstStyle/>
          <a:p>
            <a:pPr algn="ctr"/>
          </a:p>
        </p:txBody>
      </p:sp>
      <p:sp>
        <p:nvSpPr>
          <p:cNvPr id="41" name="TextBox 40"/>
          <p:cNvSpPr txBox="1"/>
          <p:nvPr/>
        </p:nvSpPr>
        <p:spPr>
          <a:xfrm>
            <a:off x="8897112" y="4800600"/>
            <a:ext cx="4882896" cy="42062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6B6861"/>
                </a:solidFill>
                <a:latin typeface="Arimo"/>
              </a:rPr>
              <a:t>Verify live provider in production</a:t>
            </a:r>
          </a:p>
        </p:txBody>
      </p:sp>
      <p:sp>
        <p:nvSpPr>
          <p:cNvPr id="42" name="Rounded Rectangle 41"/>
          <p:cNvSpPr/>
          <p:nvPr/>
        </p:nvSpPr>
        <p:spPr>
          <a:xfrm>
            <a:off x="694944" y="5806440"/>
            <a:ext cx="13249656" cy="521207"/>
          </a:xfrm>
          <a:prstGeom prst="roundRect">
            <a:avLst/>
          </a:prstGeom>
          <a:solidFill>
            <a:srgbClr val="EAF7F5"/>
          </a:solidFill>
          <a:ln>
            <a:noFill/>
          </a:ln>
        </p:spPr>
        <p:txBody>
          <a:bodyPr rtlCol="0" anchor="ctr"/>
          <a:lstStyle/>
          <a:p>
            <a:pPr algn="ctr"/>
          </a:p>
        </p:txBody>
      </p:sp>
      <p:sp>
        <p:nvSpPr>
          <p:cNvPr id="43" name="TextBox 42"/>
          <p:cNvSpPr txBox="1"/>
          <p:nvPr/>
        </p:nvSpPr>
        <p:spPr>
          <a:xfrm>
            <a:off x="896112" y="5943600"/>
            <a:ext cx="12847320" cy="228600"/>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600" b="1">
                <a:solidFill>
                  <a:srgbClr val="138F98"/>
                </a:solidFill>
                <a:latin typeface="Arimo"/>
              </a:rPr>
              <a:t>170 automated tests passed  |  10 model tools  |  13 tables  |  Source-linked rules and education</a:t>
            </a:r>
          </a:p>
        </p:txBody>
      </p:sp>
      <p:sp>
        <p:nvSpPr>
          <p:cNvPr id="44" name="Rounded Rectangle 43"/>
          <p:cNvSpPr/>
          <p:nvPr/>
        </p:nvSpPr>
        <p:spPr>
          <a:xfrm>
            <a:off x="685800" y="6967728"/>
            <a:ext cx="13258800" cy="448056"/>
          </a:xfrm>
          <a:prstGeom prst="roundRect">
            <a:avLst/>
          </a:prstGeom>
          <a:solidFill>
            <a:srgbClr val="FAF3E5"/>
          </a:solidFill>
          <a:ln>
            <a:noFill/>
          </a:ln>
        </p:spPr>
        <p:txBody>
          <a:bodyPr rtlCol="0" anchor="ctr"/>
          <a:lstStyle/>
          <a:p>
            <a:pPr algn="ctr"/>
          </a:p>
        </p:txBody>
      </p:sp>
      <p:sp>
        <p:nvSpPr>
          <p:cNvPr id="45" name="Rectangle 44"/>
          <p:cNvSpPr/>
          <p:nvPr/>
        </p:nvSpPr>
        <p:spPr>
          <a:xfrm>
            <a:off x="850392" y="7123176"/>
            <a:ext cx="82296" cy="137160"/>
          </a:xfrm>
          <a:prstGeom prst="rect">
            <a:avLst/>
          </a:prstGeom>
          <a:solidFill>
            <a:srgbClr val="A77722"/>
          </a:solidFill>
          <a:ln>
            <a:noFill/>
          </a:ln>
        </p:spPr>
        <p:txBody>
          <a:bodyPr rtlCol="0" anchor="ctr"/>
          <a:lstStyle/>
          <a:p>
            <a:pPr algn="ctr"/>
          </a:p>
        </p:txBody>
      </p:sp>
      <p:sp>
        <p:nvSpPr>
          <p:cNvPr id="46" name="TextBox 45"/>
          <p:cNvSpPr txBox="1"/>
          <p:nvPr/>
        </p:nvSpPr>
        <p:spPr>
          <a:xfrm>
            <a:off x="1060704" y="7050024"/>
            <a:ext cx="12618720" cy="283464"/>
          </a:xfrm>
          <a:prstGeom prst="rect">
            <a:avLst/>
          </a:prstGeom>
          <a:noFill/>
        </p:spPr>
        <p:txBody>
          <a:bodyPr wrap="square" lIns="13716" rIns="13716" tIns="13716" bIns="13716" anchor="t">
            <a:noAutofit/>
          </a:bodyPr>
          <a:lstStyle/>
          <a:p>
            <a:pPr algn="l">
              <a:lnSpc>
                <a:spcPct val="108000"/>
              </a:lnSpc>
              <a:spcBef>
                <a:spcPts val="0"/>
              </a:spcBef>
              <a:spcAft>
                <a:spcPts val="200"/>
              </a:spcAft>
            </a:pPr>
            <a:r>
              <a:rPr sz="1400" b="0">
                <a:solidFill>
                  <a:srgbClr val="A77722"/>
                </a:solidFill>
                <a:latin typeface="Arimo"/>
              </a:rPr>
              <a:t>Simulated data  |  No clinical validation  |  No health-system integration  |  No accessibility conformance audit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CareSteps | Architecture &amp; Trust Boundaries</dc:title>
  <dc:subject>Healthcare Challenge 2: AI Healthier Every Day</dc:subject>
  <dc:creator>CareSteps</dc:creator>
  <cp:keywords>architecture, trust boundaries, safety, tool calling</cp:keywords>
  <dc:description>Source-checked competition prototype architecture.</dc:description>
  <cp:lastModifiedBy>Steve Canny</cp:lastModifiedBy>
  <cp:revision>1</cp:revision>
  <dcterms:created xsi:type="dcterms:W3CDTF">2013-01-27T09:14:16Z</dcterms:created>
  <dcterms:modified xsi:type="dcterms:W3CDTF">2013-01-27T09:15:58Z</dcterms:modified>
  <cp:category/>
</cp:coreProperties>
</file>